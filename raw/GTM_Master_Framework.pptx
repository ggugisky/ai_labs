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6631c7f-7d47-b0ee-1ee7-8a44506abe31}">
          <p14:sldIdLst>
            <p14:sldId id="256"/>
            <p14:sldId id="257"/>
          </p14:sldIdLst>
        </p14:section>
        <p14:section name="1. Product Overview" id="{0be51b7c-a871-3d74-28ac-a5297e73a159}">
          <p14:sldIdLst>
            <p14:sldId id="258"/>
            <p14:sldId id="259"/>
            <p14:sldId id="260"/>
            <p14:sldId id="261"/>
          </p14:sldIdLst>
        </p14:section>
        <p14:section name="2. Key Features" id="{4122e3a3-f1b4-46b7-1d30-b1eae951ceb3}">
          <p14:sldIdLst>
            <p14:sldId id="262"/>
            <p14:sldId id="263"/>
            <p14:sldId id="264"/>
            <p14:sldId id="265"/>
          </p14:sldIdLst>
        </p14:section>
        <p14:section name="3. Business Model" id="{67bcb4b2-122c-c7e2-833b-ab666444f744}">
          <p14:sldIdLst>
            <p14:sldId id="266"/>
            <p14:sldId id="267"/>
            <p14:sldId id="268"/>
            <p14:sldId id="269"/>
          </p14:sldIdLst>
        </p14:section>
        <p14:section name="4. Financial Modelling" id="{1390f1da-e015-3957-7715-6616c3c31b51}">
          <p14:sldIdLst>
            <p14:sldId id="270"/>
            <p14:sldId id="271"/>
            <p14:sldId id="272"/>
          </p14:sldIdLst>
        </p14:section>
        <p14:section name="5. Market Positioning" id="{0c48e564-e1be-beff-c799-fb79859dc150}">
          <p14:sldIdLst>
            <p14:sldId id="273"/>
            <p14:sldId id="274"/>
            <p14:sldId id="275"/>
          </p14:sldIdLst>
        </p14:section>
        <p14:section name="6. User Acquisition" id="{c6a26ded-f051-4217-c9e4-1ba86e821dc9}">
          <p14:sldIdLst>
            <p14:sldId id="276"/>
            <p14:sldId id="277"/>
            <p14:sldId id="278"/>
            <p14:sldId id="279"/>
          </p14:sldIdLst>
        </p14:section>
        <p14:section name="7. Milestones &amp; Launch" id="{55a9f1a0-c32e-1204-ed44-ca17182e5fd9}">
          <p14:sldIdLst>
            <p14:sldId id="280"/>
            <p14:sldId id="281"/>
            <p14:sldId id="282"/>
            <p14:sldId id="283"/>
          </p14:sldIdLst>
        </p14:section>
        <p14:section name="8. Post-Launch Operations" id="{a050d948-3688-8972-2288-4b76a0e67b37}">
          <p14:sldIdLst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GTM Master Framework for App Developers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circle-1"/>
          <p:cNvSpPr/>
          <p:nvPr/>
        </p:nvSpPr>
        <p:spPr>
          <a:xfrm>
            <a:off x="8503920" y="-1097280"/>
            <a:ext cx="4937760" cy="4937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itle-circle-2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822960"/>
            <a:ext cx="1737360" cy="173736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Go-To-Market (GTM) Master Framework for App Developers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4069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Practical Seminar &amp; Planning Guide for Commercialising Digital Products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OVERVIEW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Agenda</a:t>
            </a:r>
            <a:endParaRPr lang="en-US" sz="3400" dirty="0"/>
          </a:p>
        </p:txBody>
      </p:sp>
      <p:sp>
        <p:nvSpPr>
          <p:cNvPr id="4" name="agenda-card-1"/>
          <p:cNvSpPr/>
          <p:nvPr/>
        </p:nvSpPr>
        <p:spPr>
          <a:xfrm>
            <a:off x="548640" y="178308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agenda-num-1"/>
          <p:cNvSpPr txBox="1"/>
          <p:nvPr/>
        </p:nvSpPr>
        <p:spPr>
          <a:xfrm>
            <a:off x="777240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pic>
        <p:nvPicPr>
          <p:cNvPr id="6" name="agenda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18" y="2075688"/>
            <a:ext cx="384048" cy="384048"/>
          </a:xfrm>
          <a:prstGeom prst="rect">
            <a:avLst/>
          </a:prstGeom>
        </p:spPr>
      </p:pic>
      <p:sp>
        <p:nvSpPr>
          <p:cNvPr id="7" name="agenda-text-1"/>
          <p:cNvSpPr txBox="1"/>
          <p:nvPr/>
        </p:nvSpPr>
        <p:spPr>
          <a:xfrm>
            <a:off x="777240" y="269748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Overview &amp; Technical Prerequisites</a:t>
            </a:r>
            <a:endParaRPr lang="en-US" sz="1600" dirty="0"/>
          </a:p>
        </p:txBody>
      </p:sp>
      <p:sp>
        <p:nvSpPr>
          <p:cNvPr id="8" name="agenda-card-2"/>
          <p:cNvSpPr/>
          <p:nvPr/>
        </p:nvSpPr>
        <p:spPr>
          <a:xfrm>
            <a:off x="3390138" y="178308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9" name="agenda-num-2"/>
          <p:cNvSpPr txBox="1"/>
          <p:nvPr/>
        </p:nvSpPr>
        <p:spPr>
          <a:xfrm>
            <a:off x="3618738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pic>
        <p:nvPicPr>
          <p:cNvPr id="10" name="agenda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516" y="2075688"/>
            <a:ext cx="384048" cy="384048"/>
          </a:xfrm>
          <a:prstGeom prst="rect">
            <a:avLst/>
          </a:prstGeom>
        </p:spPr>
      </p:pic>
      <p:sp>
        <p:nvSpPr>
          <p:cNvPr id="11" name="agenda-text-2"/>
          <p:cNvSpPr txBox="1"/>
          <p:nvPr/>
        </p:nvSpPr>
        <p:spPr>
          <a:xfrm>
            <a:off x="3618738" y="269748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Features: Core Loop, UVP &amp; TTV</a:t>
            </a:r>
            <a:endParaRPr lang="en-US" sz="1600" dirty="0"/>
          </a:p>
        </p:txBody>
      </p:sp>
      <p:sp>
        <p:nvSpPr>
          <p:cNvPr id="12" name="agenda-card-3"/>
          <p:cNvSpPr/>
          <p:nvPr/>
        </p:nvSpPr>
        <p:spPr>
          <a:xfrm>
            <a:off x="6231636" y="178308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3" name="agenda-num-3"/>
          <p:cNvSpPr txBox="1"/>
          <p:nvPr/>
        </p:nvSpPr>
        <p:spPr>
          <a:xfrm>
            <a:off x="6460236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pic>
        <p:nvPicPr>
          <p:cNvPr id="14" name="agenda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014" y="2075688"/>
            <a:ext cx="384048" cy="384048"/>
          </a:xfrm>
          <a:prstGeom prst="rect">
            <a:avLst/>
          </a:prstGeom>
        </p:spPr>
      </p:pic>
      <p:sp>
        <p:nvSpPr>
          <p:cNvPr id="15" name="agenda-text-3"/>
          <p:cNvSpPr txBox="1"/>
          <p:nvPr/>
        </p:nvSpPr>
        <p:spPr>
          <a:xfrm>
            <a:off x="6460236" y="269748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 Model &amp; Paywall Mechanics</a:t>
            </a:r>
            <a:endParaRPr lang="en-US" sz="1600" dirty="0"/>
          </a:p>
        </p:txBody>
      </p:sp>
      <p:sp>
        <p:nvSpPr>
          <p:cNvPr id="16" name="agenda-card-4"/>
          <p:cNvSpPr/>
          <p:nvPr/>
        </p:nvSpPr>
        <p:spPr>
          <a:xfrm>
            <a:off x="9073134" y="178308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7" name="agenda-num-4"/>
          <p:cNvSpPr txBox="1"/>
          <p:nvPr/>
        </p:nvSpPr>
        <p:spPr>
          <a:xfrm>
            <a:off x="9301734" y="19659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pic>
        <p:nvPicPr>
          <p:cNvPr id="18" name="agenda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4512" y="2075688"/>
            <a:ext cx="384048" cy="384048"/>
          </a:xfrm>
          <a:prstGeom prst="rect">
            <a:avLst/>
          </a:prstGeom>
        </p:spPr>
      </p:pic>
      <p:sp>
        <p:nvSpPr>
          <p:cNvPr id="19" name="agenda-text-4"/>
          <p:cNvSpPr txBox="1"/>
          <p:nvPr/>
        </p:nvSpPr>
        <p:spPr>
          <a:xfrm>
            <a:off x="9301734" y="269748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Financial Modelling &amp; Business Forecasts</a:t>
            </a:r>
            <a:endParaRPr lang="en-US" sz="1600" dirty="0"/>
          </a:p>
        </p:txBody>
      </p:sp>
      <p:sp>
        <p:nvSpPr>
          <p:cNvPr id="20" name="agenda-card-5"/>
          <p:cNvSpPr/>
          <p:nvPr/>
        </p:nvSpPr>
        <p:spPr>
          <a:xfrm>
            <a:off x="548640" y="416052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1" name="agenda-num-5"/>
          <p:cNvSpPr txBox="1"/>
          <p:nvPr/>
        </p:nvSpPr>
        <p:spPr>
          <a:xfrm>
            <a:off x="777240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pic>
        <p:nvPicPr>
          <p:cNvPr id="22" name="agenda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018" y="4453128"/>
            <a:ext cx="384048" cy="384048"/>
          </a:xfrm>
          <a:prstGeom prst="rect">
            <a:avLst/>
          </a:prstGeom>
        </p:spPr>
      </p:pic>
      <p:sp>
        <p:nvSpPr>
          <p:cNvPr id="23" name="agenda-text-5"/>
          <p:cNvSpPr txBox="1"/>
          <p:nvPr/>
        </p:nvSpPr>
        <p:spPr>
          <a:xfrm>
            <a:off x="777240" y="507492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Market Positioning, Product Branding &amp; ASO</a:t>
            </a:r>
            <a:endParaRPr lang="en-US" sz="1600" dirty="0"/>
          </a:p>
        </p:txBody>
      </p:sp>
      <p:sp>
        <p:nvSpPr>
          <p:cNvPr id="24" name="agenda-card-6"/>
          <p:cNvSpPr/>
          <p:nvPr/>
        </p:nvSpPr>
        <p:spPr>
          <a:xfrm>
            <a:off x="3390138" y="416052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5" name="agenda-num-6"/>
          <p:cNvSpPr txBox="1"/>
          <p:nvPr/>
        </p:nvSpPr>
        <p:spPr>
          <a:xfrm>
            <a:off x="3618738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pic>
        <p:nvPicPr>
          <p:cNvPr id="26" name="agenda-icon-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1516" y="4453128"/>
            <a:ext cx="384048" cy="384048"/>
          </a:xfrm>
          <a:prstGeom prst="rect">
            <a:avLst/>
          </a:prstGeom>
        </p:spPr>
      </p:pic>
      <p:sp>
        <p:nvSpPr>
          <p:cNvPr id="27" name="agenda-text-6"/>
          <p:cNvSpPr txBox="1"/>
          <p:nvPr/>
        </p:nvSpPr>
        <p:spPr>
          <a:xfrm>
            <a:off x="3618738" y="507492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Acquisition: Paid, Organic &amp; PLG</a:t>
            </a:r>
            <a:endParaRPr lang="en-US" sz="1600" dirty="0"/>
          </a:p>
        </p:txBody>
      </p:sp>
      <p:sp>
        <p:nvSpPr>
          <p:cNvPr id="28" name="agenda-card-7"/>
          <p:cNvSpPr/>
          <p:nvPr/>
        </p:nvSpPr>
        <p:spPr>
          <a:xfrm>
            <a:off x="6231636" y="416052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9" name="agenda-num-7"/>
          <p:cNvSpPr txBox="1"/>
          <p:nvPr/>
        </p:nvSpPr>
        <p:spPr>
          <a:xfrm>
            <a:off x="6460236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200" dirty="0"/>
          </a:p>
        </p:txBody>
      </p:sp>
      <p:pic>
        <p:nvPicPr>
          <p:cNvPr id="30" name="agenda-icon-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3014" y="4453128"/>
            <a:ext cx="384048" cy="384048"/>
          </a:xfrm>
          <a:prstGeom prst="rect">
            <a:avLst/>
          </a:prstGeom>
        </p:spPr>
      </p:pic>
      <p:sp>
        <p:nvSpPr>
          <p:cNvPr id="31" name="agenda-text-7"/>
          <p:cNvSpPr txBox="1"/>
          <p:nvPr/>
        </p:nvSpPr>
        <p:spPr>
          <a:xfrm>
            <a:off x="6460236" y="507492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Milestones, Store Approvals &amp; Launch Beats</a:t>
            </a:r>
            <a:endParaRPr lang="en-US" sz="1600" dirty="0"/>
          </a:p>
        </p:txBody>
      </p:sp>
      <p:sp>
        <p:nvSpPr>
          <p:cNvPr id="32" name="agenda-card-8"/>
          <p:cNvSpPr/>
          <p:nvPr/>
        </p:nvSpPr>
        <p:spPr>
          <a:xfrm>
            <a:off x="9073134" y="4160520"/>
            <a:ext cx="2567178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33" name="agenda-num-8"/>
          <p:cNvSpPr txBox="1"/>
          <p:nvPr/>
        </p:nvSpPr>
        <p:spPr>
          <a:xfrm>
            <a:off x="9301734" y="43434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200" dirty="0"/>
          </a:p>
        </p:txBody>
      </p:sp>
      <p:pic>
        <p:nvPicPr>
          <p:cNvPr id="34" name="agenda-icon-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4512" y="4453128"/>
            <a:ext cx="384048" cy="384048"/>
          </a:xfrm>
          <a:prstGeom prst="rect">
            <a:avLst/>
          </a:prstGeom>
        </p:spPr>
      </p:pic>
      <p:sp>
        <p:nvSpPr>
          <p:cNvPr id="35" name="agenda-text-8"/>
          <p:cNvSpPr txBox="1"/>
          <p:nvPr/>
        </p:nvSpPr>
        <p:spPr>
          <a:xfrm>
            <a:off x="9301734" y="5074920"/>
            <a:ext cx="210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Post-Launch Operations: Churn, LiveOps &amp;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Product Overview &amp; Technical Prerequisites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01 · PRODUCT OVERVIEW &amp; TECHNICAL PREREQUISITES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Developer Inputs Required</a:t>
            </a:r>
            <a:endParaRPr lang="en-US" sz="3400" dirty="0"/>
          </a:p>
        </p:txBody>
      </p:sp>
      <p:sp>
        <p:nvSpPr>
          <p:cNvPr id="4" name="row-1"/>
          <p:cNvSpPr/>
          <p:nvPr/>
        </p:nvSpPr>
        <p:spPr>
          <a:xfrm>
            <a:off x="548640" y="1691640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row-icon-bg-1"/>
          <p:cNvSpPr/>
          <p:nvPr/>
        </p:nvSpPr>
        <p:spPr>
          <a:xfrm>
            <a:off x="731520" y="184251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row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65960"/>
            <a:ext cx="256032" cy="256032"/>
          </a:xfrm>
          <a:prstGeom prst="rect">
            <a:avLst/>
          </a:prstGeom>
        </p:spPr>
      </p:pic>
      <p:sp>
        <p:nvSpPr>
          <p:cNvPr id="7" name="row-title-1"/>
          <p:cNvSpPr txBox="1"/>
          <p:nvPr/>
        </p:nvSpPr>
        <p:spPr>
          <a:xfrm>
            <a:off x="1463040" y="16916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 Category &amp; Service Model</a:t>
            </a:r>
            <a:endParaRPr lang="en-US" sz="1600" dirty="0"/>
          </a:p>
        </p:txBody>
      </p:sp>
      <p:sp>
        <p:nvSpPr>
          <p:cNvPr id="8" name="row-desc-1"/>
          <p:cNvSpPr txBox="1"/>
          <p:nvPr/>
        </p:nvSpPr>
        <p:spPr>
          <a:xfrm>
            <a:off x="4754880" y="1691640"/>
            <a:ext cx="6656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Primary store categorisation (e.g., Productivity / SaaS, Health &amp; Fitness / Freemium, Utilities / Ad-supported).</a:t>
            </a:r>
            <a:endParaRPr lang="en-US" sz="1400" dirty="0"/>
          </a:p>
        </p:txBody>
      </p:sp>
      <p:sp>
        <p:nvSpPr>
          <p:cNvPr id="9" name="row-2"/>
          <p:cNvSpPr/>
          <p:nvPr/>
        </p:nvSpPr>
        <p:spPr>
          <a:xfrm>
            <a:off x="548640" y="2606040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row-icon-bg-2"/>
          <p:cNvSpPr/>
          <p:nvPr/>
        </p:nvSpPr>
        <p:spPr>
          <a:xfrm>
            <a:off x="731520" y="27569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row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880360"/>
            <a:ext cx="256032" cy="256032"/>
          </a:xfrm>
          <a:prstGeom prst="rect">
            <a:avLst/>
          </a:prstGeom>
        </p:spPr>
      </p:pic>
      <p:sp>
        <p:nvSpPr>
          <p:cNvPr id="12" name="row-title-2"/>
          <p:cNvSpPr txBox="1"/>
          <p:nvPr/>
        </p:nvSpPr>
        <p:spPr>
          <a:xfrm>
            <a:off x="1463040" y="26060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Platform Strategy</a:t>
            </a:r>
            <a:endParaRPr lang="en-US" sz="1600" dirty="0"/>
          </a:p>
        </p:txBody>
      </p:sp>
      <p:sp>
        <p:nvSpPr>
          <p:cNvPr id="13" name="row-desc-2"/>
          <p:cNvSpPr txBox="1"/>
          <p:nvPr/>
        </p:nvSpPr>
        <p:spPr>
          <a:xfrm>
            <a:off x="4754880" y="2606040"/>
            <a:ext cx="6656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Target launch platforms (iOS, Android, or Cross-Platform via React Native / Flutter).</a:t>
            </a:r>
            <a:endParaRPr lang="en-US" sz="1400" dirty="0"/>
          </a:p>
        </p:txBody>
      </p:sp>
      <p:sp>
        <p:nvSpPr>
          <p:cNvPr id="14" name="row-3"/>
          <p:cNvSpPr/>
          <p:nvPr/>
        </p:nvSpPr>
        <p:spPr>
          <a:xfrm>
            <a:off x="548640" y="3520440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row-icon-bg-3"/>
          <p:cNvSpPr/>
          <p:nvPr/>
        </p:nvSpPr>
        <p:spPr>
          <a:xfrm>
            <a:off x="731520" y="367131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row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794760"/>
            <a:ext cx="256032" cy="256032"/>
          </a:xfrm>
          <a:prstGeom prst="rect">
            <a:avLst/>
          </a:prstGeom>
        </p:spPr>
      </p:pic>
      <p:sp>
        <p:nvSpPr>
          <p:cNvPr id="17" name="row-title-3"/>
          <p:cNvSpPr txBox="1"/>
          <p:nvPr/>
        </p:nvSpPr>
        <p:spPr>
          <a:xfrm>
            <a:off x="1463040" y="35204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 Launch Window</a:t>
            </a:r>
            <a:endParaRPr lang="en-US" sz="1600" dirty="0"/>
          </a:p>
        </p:txBody>
      </p:sp>
      <p:sp>
        <p:nvSpPr>
          <p:cNvPr id="18" name="row-desc-3"/>
          <p:cNvSpPr txBox="1"/>
          <p:nvPr/>
        </p:nvSpPr>
        <p:spPr>
          <a:xfrm>
            <a:off x="4754880" y="3520440"/>
            <a:ext cx="6656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Internal target dates for Alpha, Beta, Soft Launch, and Commercial Hard Launch.</a:t>
            </a:r>
            <a:endParaRPr lang="en-US" sz="1400" dirty="0"/>
          </a:p>
        </p:txBody>
      </p:sp>
      <p:sp>
        <p:nvSpPr>
          <p:cNvPr id="19" name="row-4"/>
          <p:cNvSpPr/>
          <p:nvPr/>
        </p:nvSpPr>
        <p:spPr>
          <a:xfrm>
            <a:off x="548640" y="4434840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row-icon-bg-4"/>
          <p:cNvSpPr/>
          <p:nvPr/>
        </p:nvSpPr>
        <p:spPr>
          <a:xfrm>
            <a:off x="731520" y="45857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row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709160"/>
            <a:ext cx="256032" cy="256032"/>
          </a:xfrm>
          <a:prstGeom prst="rect">
            <a:avLst/>
          </a:prstGeom>
        </p:spPr>
      </p:pic>
      <p:sp>
        <p:nvSpPr>
          <p:cNvPr id="22" name="row-title-4"/>
          <p:cNvSpPr txBox="1"/>
          <p:nvPr/>
        </p:nvSpPr>
        <p:spPr>
          <a:xfrm>
            <a:off x="1463040" y="44348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 Demographic &amp; User Personas</a:t>
            </a:r>
            <a:endParaRPr lang="en-US" sz="1600" dirty="0"/>
          </a:p>
        </p:txBody>
      </p:sp>
      <p:sp>
        <p:nvSpPr>
          <p:cNvPr id="23" name="row-desc-4"/>
          <p:cNvSpPr txBox="1"/>
          <p:nvPr/>
        </p:nvSpPr>
        <p:spPr>
          <a:xfrm>
            <a:off x="4754880" y="4434840"/>
            <a:ext cx="6656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Primary user profiles, core pain points, and buyer personas (decoupling end users from actual purchasers).</a:t>
            </a:r>
            <a:endParaRPr lang="en-US" sz="1400" dirty="0"/>
          </a:p>
        </p:txBody>
      </p:sp>
      <p:sp>
        <p:nvSpPr>
          <p:cNvPr id="24" name="row-5"/>
          <p:cNvSpPr/>
          <p:nvPr/>
        </p:nvSpPr>
        <p:spPr>
          <a:xfrm>
            <a:off x="548640" y="5349240"/>
            <a:ext cx="11091672" cy="804672"/>
          </a:xfrm>
          <a:prstGeom prst="roundRect">
            <a:avLst>
              <a:gd name="adj" fmla="val 1136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row-icon-bg-5"/>
          <p:cNvSpPr/>
          <p:nvPr/>
        </p:nvSpPr>
        <p:spPr>
          <a:xfrm>
            <a:off x="731520" y="550011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row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623560"/>
            <a:ext cx="256032" cy="256032"/>
          </a:xfrm>
          <a:prstGeom prst="rect">
            <a:avLst/>
          </a:prstGeom>
        </p:spPr>
      </p:pic>
      <p:sp>
        <p:nvSpPr>
          <p:cNvPr id="27" name="row-title-5"/>
          <p:cNvSpPr txBox="1"/>
          <p:nvPr/>
        </p:nvSpPr>
        <p:spPr>
          <a:xfrm>
            <a:off x="1463040" y="53492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Commercial SDK Architecture</a:t>
            </a:r>
            <a:endParaRPr lang="en-US" sz="1600" dirty="0"/>
          </a:p>
        </p:txBody>
      </p:sp>
      <p:sp>
        <p:nvSpPr>
          <p:cNvPr id="28" name="row-desc-5"/>
          <p:cNvSpPr txBox="1"/>
          <p:nvPr/>
        </p:nvSpPr>
        <p:spPr>
          <a:xfrm>
            <a:off x="4754880" y="5349240"/>
            <a:ext cx="6656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Early setup of subscription handlers (e.g., RevenueCat, Adapty), analytics pipelines (e.g., Mixpanel, PostHog), and crash reporting tools (Firebase Crashlytics).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01 · PRODUCT OVERVIEW &amp; TECHNICAL PREREQUISITES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1"/>
          <p:cNvSpPr/>
          <p:nvPr/>
        </p:nvSpPr>
        <p:spPr>
          <a:xfrm>
            <a:off x="54864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1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1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UVP (Unique Value Proposition)</a:t>
            </a:r>
            <a:endParaRPr lang="en-US" sz="1600" dirty="0"/>
          </a:p>
        </p:txBody>
      </p:sp>
      <p:sp>
        <p:nvSpPr>
          <p:cNvPr id="8" name="card-body-1"/>
          <p:cNvSpPr txBox="1"/>
          <p:nvPr/>
        </p:nvSpPr>
        <p:spPr>
          <a:xfrm>
            <a:off x="777240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single-sentence statement defining what problem your app solves and why it is superior to existing alternatives.</a:t>
            </a:r>
            <a:endParaRPr lang="en-US" sz="1400" dirty="0"/>
          </a:p>
        </p:txBody>
      </p:sp>
      <p:sp>
        <p:nvSpPr>
          <p:cNvPr id="9" name="card-2"/>
          <p:cNvSpPr/>
          <p:nvPr/>
        </p:nvSpPr>
        <p:spPr>
          <a:xfrm>
            <a:off x="623163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2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2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Commercial SDK Stack</a:t>
            </a:r>
            <a:endParaRPr lang="en-US" sz="1600" dirty="0"/>
          </a:p>
        </p:txBody>
      </p:sp>
      <p:sp>
        <p:nvSpPr>
          <p:cNvPr id="13" name="card-body-2"/>
          <p:cNvSpPr txBox="1"/>
          <p:nvPr/>
        </p:nvSpPr>
        <p:spPr>
          <a:xfrm>
            <a:off x="6460236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Third-party libraries integrated into the codebase before feature completeness to manage store entitlements, receipt validation, event telemetry, and privacy compliance.</a:t>
            </a:r>
            <a:endParaRPr lang="en-US" sz="1400" dirty="0"/>
          </a:p>
        </p:txBody>
      </p:sp>
      <p:sp>
        <p:nvSpPr>
          <p:cNvPr id="14" name="card-3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3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421124"/>
            <a:ext cx="256032" cy="256032"/>
          </a:xfrm>
          <a:prstGeom prst="rect">
            <a:avLst/>
          </a:prstGeom>
        </p:spPr>
      </p:pic>
      <p:sp>
        <p:nvSpPr>
          <p:cNvPr id="17" name="card-title-3"/>
          <p:cNvSpPr txBox="1"/>
          <p:nvPr/>
        </p:nvSpPr>
        <p:spPr>
          <a:xfrm>
            <a:off x="1417320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 Launch vs. Hard Launch</a:t>
            </a:r>
            <a:endParaRPr lang="en-US" sz="1600" dirty="0"/>
          </a:p>
        </p:txBody>
      </p:sp>
      <p:sp>
        <p:nvSpPr>
          <p:cNvPr id="18" name="card-body-3"/>
          <p:cNvSpPr txBox="1"/>
          <p:nvPr/>
        </p:nvSpPr>
        <p:spPr>
          <a:xfrm>
            <a:off x="777240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soft launch releases the app to a limited, lower-cost market (e.g., Canada, New Zealand, Nordics) to test server infrastructure, onboarding friction, and conversion rates with real users before committing a full marketing budget. A hard launch is the global public release.</a:t>
            </a:r>
            <a:endParaRPr lang="en-US" sz="1400" dirty="0"/>
          </a:p>
        </p:txBody>
      </p:sp>
      <p:sp>
        <p:nvSpPr>
          <p:cNvPr id="19" name="card-4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0" name="card-icon-bg-4"/>
          <p:cNvSpPr/>
          <p:nvPr/>
        </p:nvSpPr>
        <p:spPr>
          <a:xfrm>
            <a:off x="6460236" y="4297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rd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21124"/>
            <a:ext cx="256032" cy="256032"/>
          </a:xfrm>
          <a:prstGeom prst="rect">
            <a:avLst/>
          </a:prstGeom>
        </p:spPr>
      </p:pic>
      <p:sp>
        <p:nvSpPr>
          <p:cNvPr id="22" name="card-title-4"/>
          <p:cNvSpPr txBox="1"/>
          <p:nvPr/>
        </p:nvSpPr>
        <p:spPr>
          <a:xfrm>
            <a:off x="7100316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Platform Parity vs. Phased Rollout</a:t>
            </a:r>
            <a:endParaRPr lang="en-US" sz="1600" dirty="0"/>
          </a:p>
        </p:txBody>
      </p:sp>
      <p:sp>
        <p:nvSpPr>
          <p:cNvPr id="23" name="card-body-4"/>
          <p:cNvSpPr txBox="1"/>
          <p:nvPr/>
        </p:nvSpPr>
        <p:spPr>
          <a:xfrm>
            <a:off x="6460236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Releasing simultaneously on iOS and Android versus launching on one OS first to validate unit economics and product-market fit before building for the second.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01 · PRODUCT OVERVIEW &amp; TECHNICAL PREREQUISITES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App vs. Games Nuance</a:t>
            </a:r>
            <a:endParaRPr lang="en-US" sz="3400" dirty="0"/>
          </a:p>
        </p:txBody>
      </p:sp>
      <p:sp>
        <p:nvSpPr>
          <p:cNvPr id="4" name="card-5"/>
          <p:cNvSpPr/>
          <p:nvPr/>
        </p:nvSpPr>
        <p:spPr>
          <a:xfrm>
            <a:off x="548640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5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Decouple “User” from “Payer”</a:t>
            </a:r>
            <a:endParaRPr lang="en-US" sz="1600" dirty="0"/>
          </a:p>
        </p:txBody>
      </p:sp>
      <p:sp>
        <p:nvSpPr>
          <p:cNvPr id="8" name="card-body-5"/>
          <p:cNvSpPr txBox="1"/>
          <p:nvPr/>
        </p:nvSpPr>
        <p:spPr>
          <a:xfrm>
            <a:off x="777240" y="2587752"/>
            <a:ext cx="49514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Games generally sell direct-to-consumer through in-game gameplay loops. Utility and SaaS apps often achieve higher monetisation efficiency through B2B, team licences, or family plans where the purchaser differs from the end user.</a:t>
            </a:r>
            <a:endParaRPr lang="en-US" sz="1600" dirty="0"/>
          </a:p>
        </p:txBody>
      </p:sp>
      <p:sp>
        <p:nvSpPr>
          <p:cNvPr id="9" name="card-6"/>
          <p:cNvSpPr/>
          <p:nvPr/>
        </p:nvSpPr>
        <p:spPr>
          <a:xfrm>
            <a:off x="6231636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6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6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SDK Architecture as Core Code</a:t>
            </a:r>
            <a:endParaRPr lang="en-US" sz="1600" dirty="0"/>
          </a:p>
        </p:txBody>
      </p:sp>
      <p:sp>
        <p:nvSpPr>
          <p:cNvPr id="13" name="card-body-6"/>
          <p:cNvSpPr txBox="1"/>
          <p:nvPr/>
        </p:nvSpPr>
        <p:spPr>
          <a:xfrm>
            <a:off x="6460236" y="2587752"/>
            <a:ext cx="49514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Monetisation and analytics cannot be tacked on at the end. In-app purchases, entitlement tracking, and privacy compliance frameworks (ATT on iOS) must be architected into the codebase during early sprint planning.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Key Features: Core Loop, UVP &amp; Time-to-Value (TTV)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02 · KEY FEATURES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Core Loop</a:t>
            </a:r>
            <a:endParaRPr lang="en-US" sz="3400" dirty="0"/>
          </a:p>
        </p:txBody>
      </p:sp>
      <p:sp>
        <p:nvSpPr>
          <p:cNvPr id="4" name="loop-intro"/>
          <p:cNvSpPr txBox="1"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Step-by-step mapping of the primary user interaction cycle (Trigger → Action → Outcome / Utility → Progress → Return Prompt).</a:t>
            </a:r>
            <a:endParaRPr lang="en-US" sz="1800" dirty="0"/>
          </a:p>
        </p:txBody>
      </p:sp>
      <p:sp>
        <p:nvSpPr>
          <p:cNvPr id="5" name="loop-step-1"/>
          <p:cNvSpPr/>
          <p:nvPr/>
        </p:nvSpPr>
        <p:spPr>
          <a:xfrm>
            <a:off x="548640" y="288036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6" name="loop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337560"/>
            <a:ext cx="548640" cy="548640"/>
          </a:xfrm>
          <a:prstGeom prst="rect">
            <a:avLst/>
          </a:prstGeom>
        </p:spPr>
      </p:pic>
      <p:sp>
        <p:nvSpPr>
          <p:cNvPr id="7" name="loop-label-1"/>
          <p:cNvSpPr txBox="1"/>
          <p:nvPr/>
        </p:nvSpPr>
        <p:spPr>
          <a:xfrm>
            <a:off x="182880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Trigger</a:t>
            </a:r>
            <a:endParaRPr lang="en-US" sz="1600" dirty="0"/>
          </a:p>
        </p:txBody>
      </p:sp>
      <p:sp>
        <p:nvSpPr>
          <p:cNvPr id="8" name="loop-arrow-1"/>
          <p:cNvSpPr txBox="1"/>
          <p:nvPr/>
        </p:nvSpPr>
        <p:spPr>
          <a:xfrm>
            <a:off x="2011680" y="2880360"/>
            <a:ext cx="9441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loop-step-2"/>
          <p:cNvSpPr/>
          <p:nvPr/>
        </p:nvSpPr>
        <p:spPr>
          <a:xfrm>
            <a:off x="2955798" y="288036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10" name="loop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998" y="3337560"/>
            <a:ext cx="548640" cy="548640"/>
          </a:xfrm>
          <a:prstGeom prst="rect">
            <a:avLst/>
          </a:prstGeom>
        </p:spPr>
      </p:pic>
      <p:sp>
        <p:nvSpPr>
          <p:cNvPr id="11" name="loop-label-2"/>
          <p:cNvSpPr txBox="1"/>
          <p:nvPr/>
        </p:nvSpPr>
        <p:spPr>
          <a:xfrm>
            <a:off x="2590038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Action</a:t>
            </a:r>
            <a:endParaRPr lang="en-US" sz="1600" dirty="0"/>
          </a:p>
        </p:txBody>
      </p:sp>
      <p:sp>
        <p:nvSpPr>
          <p:cNvPr id="12" name="loop-arrow-2"/>
          <p:cNvSpPr txBox="1"/>
          <p:nvPr/>
        </p:nvSpPr>
        <p:spPr>
          <a:xfrm>
            <a:off x="4418838" y="2880360"/>
            <a:ext cx="9441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→</a:t>
            </a:r>
            <a:endParaRPr lang="en-US" sz="3600" dirty="0"/>
          </a:p>
        </p:txBody>
      </p:sp>
      <p:sp>
        <p:nvSpPr>
          <p:cNvPr id="13" name="loop-step-3"/>
          <p:cNvSpPr/>
          <p:nvPr/>
        </p:nvSpPr>
        <p:spPr>
          <a:xfrm>
            <a:off x="5362956" y="288036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14" name="loop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3337560"/>
            <a:ext cx="548640" cy="548640"/>
          </a:xfrm>
          <a:prstGeom prst="rect">
            <a:avLst/>
          </a:prstGeom>
        </p:spPr>
      </p:pic>
      <p:sp>
        <p:nvSpPr>
          <p:cNvPr id="15" name="loop-label-3"/>
          <p:cNvSpPr txBox="1"/>
          <p:nvPr/>
        </p:nvSpPr>
        <p:spPr>
          <a:xfrm>
            <a:off x="4997196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Outcome / Utility</a:t>
            </a:r>
            <a:endParaRPr lang="en-US" sz="1600" dirty="0"/>
          </a:p>
        </p:txBody>
      </p:sp>
      <p:sp>
        <p:nvSpPr>
          <p:cNvPr id="16" name="loop-arrow-3"/>
          <p:cNvSpPr txBox="1"/>
          <p:nvPr/>
        </p:nvSpPr>
        <p:spPr>
          <a:xfrm>
            <a:off x="6825996" y="2880360"/>
            <a:ext cx="9441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→</a:t>
            </a:r>
            <a:endParaRPr lang="en-US" sz="3600" dirty="0"/>
          </a:p>
        </p:txBody>
      </p:sp>
      <p:sp>
        <p:nvSpPr>
          <p:cNvPr id="17" name="loop-step-4"/>
          <p:cNvSpPr/>
          <p:nvPr/>
        </p:nvSpPr>
        <p:spPr>
          <a:xfrm>
            <a:off x="7770114" y="2880360"/>
            <a:ext cx="1463040" cy="14630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18" name="loop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314" y="3337560"/>
            <a:ext cx="548640" cy="548640"/>
          </a:xfrm>
          <a:prstGeom prst="rect">
            <a:avLst/>
          </a:prstGeom>
        </p:spPr>
      </p:pic>
      <p:sp>
        <p:nvSpPr>
          <p:cNvPr id="19" name="loop-label-4"/>
          <p:cNvSpPr txBox="1"/>
          <p:nvPr/>
        </p:nvSpPr>
        <p:spPr>
          <a:xfrm>
            <a:off x="7404354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Progress</a:t>
            </a:r>
            <a:endParaRPr lang="en-US" sz="1600" dirty="0"/>
          </a:p>
        </p:txBody>
      </p:sp>
      <p:sp>
        <p:nvSpPr>
          <p:cNvPr id="20" name="loop-arrow-4"/>
          <p:cNvSpPr txBox="1"/>
          <p:nvPr/>
        </p:nvSpPr>
        <p:spPr>
          <a:xfrm>
            <a:off x="9233154" y="2880360"/>
            <a:ext cx="9441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→</a:t>
            </a:r>
            <a:endParaRPr lang="en-US" sz="3600" dirty="0"/>
          </a:p>
        </p:txBody>
      </p:sp>
      <p:sp>
        <p:nvSpPr>
          <p:cNvPr id="21" name="loop-step-5"/>
          <p:cNvSpPr/>
          <p:nvPr/>
        </p:nvSpPr>
        <p:spPr>
          <a:xfrm>
            <a:off x="10177272" y="288036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22" name="loop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72" y="3337560"/>
            <a:ext cx="548640" cy="548640"/>
          </a:xfrm>
          <a:prstGeom prst="rect">
            <a:avLst/>
          </a:prstGeom>
        </p:spPr>
      </p:pic>
      <p:sp>
        <p:nvSpPr>
          <p:cNvPr id="23" name="loop-label-5"/>
          <p:cNvSpPr txBox="1"/>
          <p:nvPr/>
        </p:nvSpPr>
        <p:spPr>
          <a:xfrm>
            <a:off x="9811512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Return Prompt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02 · KEY FEATURES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UVP, Time-to-Value &amp; Feature Tiering</a:t>
            </a:r>
            <a:endParaRPr lang="en-US" sz="3400" dirty="0"/>
          </a:p>
        </p:txBody>
      </p:sp>
      <p:sp>
        <p:nvSpPr>
          <p:cNvPr id="4" name="card-7"/>
          <p:cNvSpPr/>
          <p:nvPr/>
        </p:nvSpPr>
        <p:spPr>
          <a:xfrm>
            <a:off x="548640" y="1691640"/>
            <a:ext cx="4937760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7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7"/>
          <p:cNvSpPr txBox="1"/>
          <p:nvPr/>
        </p:nvSpPr>
        <p:spPr>
          <a:xfrm>
            <a:off x="1417320" y="1892808"/>
            <a:ext cx="3886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Primary UVP Feature Set</a:t>
            </a:r>
            <a:endParaRPr lang="en-US" sz="1600" dirty="0"/>
          </a:p>
        </p:txBody>
      </p:sp>
      <p:sp>
        <p:nvSpPr>
          <p:cNvPr id="8" name="card-body-7"/>
          <p:cNvSpPr txBox="1"/>
          <p:nvPr/>
        </p:nvSpPr>
        <p:spPr>
          <a:xfrm>
            <a:off x="777240" y="2587752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specific technical capability or workflow optimisation that delivers the core value proposition.</a:t>
            </a:r>
            <a:endParaRPr lang="en-US" sz="1400" dirty="0"/>
          </a:p>
        </p:txBody>
      </p:sp>
      <p:sp>
        <p:nvSpPr>
          <p:cNvPr id="9" name="card-8"/>
          <p:cNvSpPr/>
          <p:nvPr/>
        </p:nvSpPr>
        <p:spPr>
          <a:xfrm>
            <a:off x="548640" y="4069080"/>
            <a:ext cx="4937760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4421124"/>
            <a:ext cx="256032" cy="256032"/>
          </a:xfrm>
          <a:prstGeom prst="rect">
            <a:avLst/>
          </a:prstGeom>
        </p:spPr>
      </p:pic>
      <p:sp>
        <p:nvSpPr>
          <p:cNvPr id="12" name="card-title-8"/>
          <p:cNvSpPr txBox="1"/>
          <p:nvPr/>
        </p:nvSpPr>
        <p:spPr>
          <a:xfrm>
            <a:off x="1417320" y="4270248"/>
            <a:ext cx="3886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Time-to-Value (TTV) Optimisation</a:t>
            </a:r>
            <a:endParaRPr lang="en-US" sz="1600" dirty="0"/>
          </a:p>
        </p:txBody>
      </p:sp>
      <p:sp>
        <p:nvSpPr>
          <p:cNvPr id="13" name="card-body-8"/>
          <p:cNvSpPr txBox="1"/>
          <p:nvPr/>
        </p:nvSpPr>
        <p:spPr>
          <a:xfrm>
            <a:off x="777240" y="4965192"/>
            <a:ext cx="4480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Streamlining onboarding to get the user from download to their first “Aha!” moment in as few taps as possible.</a:t>
            </a:r>
            <a:endParaRPr lang="en-US" sz="1400" dirty="0"/>
          </a:p>
        </p:txBody>
      </p:sp>
      <p:sp>
        <p:nvSpPr>
          <p:cNvPr id="14" name="moscow-title"/>
          <p:cNvSpPr txBox="1"/>
          <p:nvPr/>
        </p:nvSpPr>
        <p:spPr>
          <a:xfrm>
            <a:off x="5760720" y="1691640"/>
            <a:ext cx="5879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Feature Tiering (MoSCoW Method)</a:t>
            </a:r>
            <a:endParaRPr lang="en-US" sz="1800" dirty="0"/>
          </a:p>
        </p:txBody>
      </p:sp>
      <p:sp>
        <p:nvSpPr>
          <p:cNvPr id="15" name="moscow-tile-1"/>
          <p:cNvSpPr/>
          <p:nvPr/>
        </p:nvSpPr>
        <p:spPr>
          <a:xfrm>
            <a:off x="5760720" y="2240280"/>
            <a:ext cx="2802636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6" name="moscow-letter-1"/>
          <p:cNvSpPr txBox="1"/>
          <p:nvPr/>
        </p:nvSpPr>
        <p:spPr>
          <a:xfrm>
            <a:off x="5989320" y="2377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17" name="moscow-name-1"/>
          <p:cNvSpPr txBox="1"/>
          <p:nvPr/>
        </p:nvSpPr>
        <p:spPr>
          <a:xfrm>
            <a:off x="5989320" y="3154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Must-Have</a:t>
            </a:r>
            <a:endParaRPr lang="en-US" sz="1600" dirty="0"/>
          </a:p>
        </p:txBody>
      </p:sp>
      <p:sp>
        <p:nvSpPr>
          <p:cNvPr id="18" name="moscow-desc-1"/>
          <p:cNvSpPr txBox="1"/>
          <p:nvPr/>
        </p:nvSpPr>
        <p:spPr>
          <a:xfrm>
            <a:off x="5989320" y="3520440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MVP launch criteria</a:t>
            </a:r>
            <a:endParaRPr lang="en-US" sz="1400" dirty="0"/>
          </a:p>
        </p:txBody>
      </p:sp>
      <p:sp>
        <p:nvSpPr>
          <p:cNvPr id="19" name="moscow-tile-2"/>
          <p:cNvSpPr/>
          <p:nvPr/>
        </p:nvSpPr>
        <p:spPr>
          <a:xfrm>
            <a:off x="8837676" y="2240280"/>
            <a:ext cx="2802636" cy="18288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0" name="moscow-letter-2"/>
          <p:cNvSpPr txBox="1"/>
          <p:nvPr/>
        </p:nvSpPr>
        <p:spPr>
          <a:xfrm>
            <a:off x="9066276" y="2377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21" name="moscow-name-2"/>
          <p:cNvSpPr txBox="1"/>
          <p:nvPr/>
        </p:nvSpPr>
        <p:spPr>
          <a:xfrm>
            <a:off x="9066276" y="315468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Should-Have</a:t>
            </a:r>
            <a:endParaRPr lang="en-US" sz="1600" dirty="0"/>
          </a:p>
        </p:txBody>
      </p:sp>
      <p:sp>
        <p:nvSpPr>
          <p:cNvPr id="22" name="moscow-desc-2"/>
          <p:cNvSpPr txBox="1"/>
          <p:nvPr/>
        </p:nvSpPr>
        <p:spPr>
          <a:xfrm>
            <a:off x="9066276" y="3520440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v1.1 updates</a:t>
            </a:r>
            <a:endParaRPr lang="en-US" sz="1400" dirty="0"/>
          </a:p>
        </p:txBody>
      </p:sp>
      <p:sp>
        <p:nvSpPr>
          <p:cNvPr id="23" name="moscow-tile-3"/>
          <p:cNvSpPr/>
          <p:nvPr/>
        </p:nvSpPr>
        <p:spPr>
          <a:xfrm>
            <a:off x="5760720" y="4343400"/>
            <a:ext cx="2802636" cy="18288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4" name="moscow-letter-3"/>
          <p:cNvSpPr txBox="1"/>
          <p:nvPr/>
        </p:nvSpPr>
        <p:spPr>
          <a:xfrm>
            <a:off x="5989320" y="44805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25" name="moscow-name-3"/>
          <p:cNvSpPr txBox="1"/>
          <p:nvPr/>
        </p:nvSpPr>
        <p:spPr>
          <a:xfrm>
            <a:off x="5989320" y="525780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Could-Have</a:t>
            </a:r>
            <a:endParaRPr lang="en-US" sz="1600" dirty="0"/>
          </a:p>
        </p:txBody>
      </p:sp>
      <p:sp>
        <p:nvSpPr>
          <p:cNvPr id="26" name="moscow-desc-3"/>
          <p:cNvSpPr txBox="1"/>
          <p:nvPr/>
        </p:nvSpPr>
        <p:spPr>
          <a:xfrm>
            <a:off x="5989320" y="5623560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Long-term roadmap</a:t>
            </a:r>
            <a:endParaRPr lang="en-US" sz="1400" dirty="0"/>
          </a:p>
        </p:txBody>
      </p:sp>
      <p:sp>
        <p:nvSpPr>
          <p:cNvPr id="27" name="moscow-tile-4"/>
          <p:cNvSpPr/>
          <p:nvPr/>
        </p:nvSpPr>
        <p:spPr>
          <a:xfrm>
            <a:off x="8837676" y="4343400"/>
            <a:ext cx="2802636" cy="18288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8" name="moscow-letter-4"/>
          <p:cNvSpPr txBox="1"/>
          <p:nvPr/>
        </p:nvSpPr>
        <p:spPr>
          <a:xfrm>
            <a:off x="9066276" y="44805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4000" dirty="0"/>
          </a:p>
        </p:txBody>
      </p:sp>
      <p:sp>
        <p:nvSpPr>
          <p:cNvPr id="29" name="moscow-name-4"/>
          <p:cNvSpPr txBox="1"/>
          <p:nvPr/>
        </p:nvSpPr>
        <p:spPr>
          <a:xfrm>
            <a:off x="9066276" y="5257800"/>
            <a:ext cx="2345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Won't-Have</a:t>
            </a:r>
            <a:endParaRPr lang="en-US" sz="1600" dirty="0"/>
          </a:p>
        </p:txBody>
      </p:sp>
      <p:sp>
        <p:nvSpPr>
          <p:cNvPr id="30" name="moscow-desc-4"/>
          <p:cNvSpPr txBox="1"/>
          <p:nvPr/>
        </p:nvSpPr>
        <p:spPr>
          <a:xfrm>
            <a:off x="9066276" y="5623560"/>
            <a:ext cx="2345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Explicitly out of scope for this release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02 · KEY FEATURES: CORE LOOP, UVP &amp; TTV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9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9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9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Core Loop (Games vs. Apps)</a:t>
            </a:r>
            <a:endParaRPr lang="en-US" sz="1600" dirty="0"/>
          </a:p>
        </p:txBody>
      </p:sp>
      <p:sp>
        <p:nvSpPr>
          <p:cNvPr id="8" name="card-body-9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games, the core loop optimises session length and frequency via emotional or entertainment rewards. In apps, the core loop emphasises frictionless utility: the faster and cleaner a user completes their task, the higher the product's perceived value.</a:t>
            </a:r>
            <a:endParaRPr lang="en-US" sz="1600" dirty="0"/>
          </a:p>
        </p:txBody>
      </p:sp>
      <p:sp>
        <p:nvSpPr>
          <p:cNvPr id="9" name="card-10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10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10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Time-to-Value (TTV)</a:t>
            </a:r>
            <a:endParaRPr lang="en-US" sz="1600" dirty="0"/>
          </a:p>
        </p:txBody>
      </p:sp>
      <p:sp>
        <p:nvSpPr>
          <p:cNvPr id="13" name="card-body-10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duration from when a user finishes downloading the app to when they experience their first meaningful result.</a:t>
            </a:r>
            <a:endParaRPr lang="en-US" sz="1600" dirty="0"/>
          </a:p>
        </p:txBody>
      </p:sp>
      <p:sp>
        <p:nvSpPr>
          <p:cNvPr id="14" name="card-11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11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1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11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 Drop-off Rate</a:t>
            </a:r>
            <a:endParaRPr lang="en-US" sz="1600" dirty="0"/>
          </a:p>
        </p:txBody>
      </p:sp>
      <p:sp>
        <p:nvSpPr>
          <p:cNvPr id="18" name="card-body-11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percentage of users who quit during registration or permission prompts before reaching the primary interface.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Business Model &amp; Paywall Mechanics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03 · BUSINESS MODEL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Monetisation Architecture</a:t>
            </a:r>
            <a:endParaRPr lang="en-US" sz="3400" dirty="0"/>
          </a:p>
        </p:txBody>
      </p:sp>
      <p:sp>
        <p:nvSpPr>
          <p:cNvPr id="4" name="card-12"/>
          <p:cNvSpPr/>
          <p:nvPr/>
        </p:nvSpPr>
        <p:spPr>
          <a:xfrm>
            <a:off x="54864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12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12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Subscriptions</a:t>
            </a:r>
            <a:endParaRPr lang="en-US" sz="1600" dirty="0"/>
          </a:p>
        </p:txBody>
      </p:sp>
      <p:sp>
        <p:nvSpPr>
          <p:cNvPr id="8" name="card-body-12"/>
          <p:cNvSpPr txBox="1"/>
          <p:nvPr/>
        </p:nvSpPr>
        <p:spPr>
          <a:xfrm>
            <a:off x="777240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Tiered monthly/annual access, freemium feature gates, free trial structures (e.g., 7-day trial with auto-renew).</a:t>
            </a:r>
            <a:endParaRPr lang="en-US" sz="1400" dirty="0"/>
          </a:p>
        </p:txBody>
      </p:sp>
      <p:sp>
        <p:nvSpPr>
          <p:cNvPr id="9" name="card-13"/>
          <p:cNvSpPr/>
          <p:nvPr/>
        </p:nvSpPr>
        <p:spPr>
          <a:xfrm>
            <a:off x="623163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13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13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In-App Purchases (IAPs)</a:t>
            </a:r>
            <a:endParaRPr lang="en-US" sz="1600" dirty="0"/>
          </a:p>
        </p:txBody>
      </p:sp>
      <p:sp>
        <p:nvSpPr>
          <p:cNvPr id="13" name="card-body-13"/>
          <p:cNvSpPr txBox="1"/>
          <p:nvPr/>
        </p:nvSpPr>
        <p:spPr>
          <a:xfrm>
            <a:off x="6460236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One-off consumable/non-consumable add-ons, feature unlocks, or usage top-ups.</a:t>
            </a:r>
            <a:endParaRPr lang="en-US" sz="1400" dirty="0"/>
          </a:p>
        </p:txBody>
      </p:sp>
      <p:sp>
        <p:nvSpPr>
          <p:cNvPr id="14" name="card-14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14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-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421124"/>
            <a:ext cx="256032" cy="256032"/>
          </a:xfrm>
          <a:prstGeom prst="rect">
            <a:avLst/>
          </a:prstGeom>
        </p:spPr>
      </p:pic>
      <p:sp>
        <p:nvSpPr>
          <p:cNvPr id="17" name="card-title-14"/>
          <p:cNvSpPr txBox="1"/>
          <p:nvPr/>
        </p:nvSpPr>
        <p:spPr>
          <a:xfrm>
            <a:off x="1417320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Ad-Based</a:t>
            </a:r>
            <a:endParaRPr lang="en-US" sz="1600" dirty="0"/>
          </a:p>
        </p:txBody>
      </p:sp>
      <p:sp>
        <p:nvSpPr>
          <p:cNvPr id="18" name="card-body-14"/>
          <p:cNvSpPr txBox="1"/>
          <p:nvPr/>
        </p:nvSpPr>
        <p:spPr>
          <a:xfrm>
            <a:off x="777240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Banner, interstitial, or rewarded ad integrations.</a:t>
            </a:r>
            <a:endParaRPr lang="en-US" sz="1400" dirty="0"/>
          </a:p>
        </p:txBody>
      </p:sp>
      <p:sp>
        <p:nvSpPr>
          <p:cNvPr id="19" name="card-15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0" name="card-icon-bg-15"/>
          <p:cNvSpPr/>
          <p:nvPr/>
        </p:nvSpPr>
        <p:spPr>
          <a:xfrm>
            <a:off x="6460236" y="4297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rd-icon-1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21124"/>
            <a:ext cx="256032" cy="256032"/>
          </a:xfrm>
          <a:prstGeom prst="rect">
            <a:avLst/>
          </a:prstGeom>
        </p:spPr>
      </p:pic>
      <p:sp>
        <p:nvSpPr>
          <p:cNvPr id="22" name="card-title-15"/>
          <p:cNvSpPr txBox="1"/>
          <p:nvPr/>
        </p:nvSpPr>
        <p:spPr>
          <a:xfrm>
            <a:off x="7100316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Hybrid Models</a:t>
            </a:r>
            <a:endParaRPr lang="en-US" sz="1600" dirty="0"/>
          </a:p>
        </p:txBody>
      </p:sp>
      <p:sp>
        <p:nvSpPr>
          <p:cNvPr id="23" name="card-body-15"/>
          <p:cNvSpPr txBox="1"/>
          <p:nvPr/>
        </p:nvSpPr>
        <p:spPr>
          <a:xfrm>
            <a:off x="6460236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Combining freemium tiers with usage-based API limits or ad support.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03 · BUSINESS MODEL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Paywall Mechanics &amp; Platform Fees</a:t>
            </a:r>
            <a:endParaRPr lang="en-US" sz="3400" dirty="0"/>
          </a:p>
        </p:txBody>
      </p:sp>
      <p:sp>
        <p:nvSpPr>
          <p:cNvPr id="4" name="card-16"/>
          <p:cNvSpPr/>
          <p:nvPr/>
        </p:nvSpPr>
        <p:spPr>
          <a:xfrm>
            <a:off x="548640" y="1691640"/>
            <a:ext cx="5408676" cy="3886200"/>
          </a:xfrm>
          <a:prstGeom prst="roundRect">
            <a:avLst>
              <a:gd name="adj" fmla="val 282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16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16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Paywall Mechanics &amp; Triggers</a:t>
            </a:r>
            <a:endParaRPr lang="en-US" sz="1600" dirty="0"/>
          </a:p>
        </p:txBody>
      </p:sp>
      <p:sp>
        <p:nvSpPr>
          <p:cNvPr id="8" name="card-body-16"/>
          <p:cNvSpPr txBox="1"/>
          <p:nvPr/>
        </p:nvSpPr>
        <p:spPr>
          <a:xfrm>
            <a:off x="777240" y="2587752"/>
            <a:ext cx="495147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Defining hard paywalls (onboarding gate) vs. soft paywalls (feature or usage-limit gate) and mapping exact trigger points.</a:t>
            </a:r>
            <a:endParaRPr lang="en-US" sz="1400" dirty="0"/>
          </a:p>
        </p:txBody>
      </p:sp>
      <p:sp>
        <p:nvSpPr>
          <p:cNvPr id="9" name="card-17"/>
          <p:cNvSpPr/>
          <p:nvPr/>
        </p:nvSpPr>
        <p:spPr>
          <a:xfrm>
            <a:off x="6231636" y="1691640"/>
            <a:ext cx="5408676" cy="3886200"/>
          </a:xfrm>
          <a:prstGeom prst="roundRect">
            <a:avLst>
              <a:gd name="adj" fmla="val 282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17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17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Platform Fee &amp; Margin Accounting</a:t>
            </a:r>
            <a:endParaRPr lang="en-US" sz="1600" dirty="0"/>
          </a:p>
        </p:txBody>
      </p:sp>
      <p:sp>
        <p:nvSpPr>
          <p:cNvPr id="13" name="card-body-17"/>
          <p:cNvSpPr txBox="1"/>
          <p:nvPr/>
        </p:nvSpPr>
        <p:spPr>
          <a:xfrm>
            <a:off x="6460236" y="2587752"/>
            <a:ext cx="495147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Factoring 15%–30% store fees (Apple App Store / Google Play)¹, payment gateway charges, and infrastructure API costs into unit economics.</a:t>
            </a:r>
            <a:endParaRPr lang="en-US" sz="1400" dirty="0"/>
          </a:p>
        </p:txBody>
      </p:sp>
      <p:sp>
        <p:nvSpPr>
          <p:cNvPr id="14" name="stat-paywall"/>
          <p:cNvSpPr txBox="1"/>
          <p:nvPr/>
        </p:nvSpPr>
        <p:spPr>
          <a:xfrm>
            <a:off x="777240" y="4023360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vs. Soft</a:t>
            </a:r>
            <a:endParaRPr lang="en-US" sz="4000" dirty="0"/>
          </a:p>
        </p:txBody>
      </p:sp>
      <p:sp>
        <p:nvSpPr>
          <p:cNvPr id="15" name="stat-paywall-label"/>
          <p:cNvSpPr txBox="1"/>
          <p:nvPr/>
        </p:nvSpPr>
        <p:spPr>
          <a:xfrm>
            <a:off x="777240" y="484632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Onboarding gate vs. feature / usage-limit gate</a:t>
            </a:r>
            <a:endParaRPr lang="en-US" sz="1200" dirty="0"/>
          </a:p>
        </p:txBody>
      </p:sp>
      <p:sp>
        <p:nvSpPr>
          <p:cNvPr id="16" name="stat-fee"/>
          <p:cNvSpPr txBox="1"/>
          <p:nvPr/>
        </p:nvSpPr>
        <p:spPr>
          <a:xfrm>
            <a:off x="6460236" y="4023360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15–30%</a:t>
            </a:r>
            <a:endParaRPr lang="en-US" sz="4800" dirty="0"/>
          </a:p>
        </p:txBody>
      </p:sp>
      <p:sp>
        <p:nvSpPr>
          <p:cNvPr id="17" name="stat-fee-label"/>
          <p:cNvSpPr txBox="1"/>
          <p:nvPr/>
        </p:nvSpPr>
        <p:spPr>
          <a:xfrm>
            <a:off x="6460236" y="484632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Apple App Store / Google Play store fees</a:t>
            </a:r>
            <a:endParaRPr lang="en-US" sz="1200" dirty="0"/>
          </a:p>
        </p:txBody>
      </p:sp>
      <p:sp>
        <p:nvSpPr>
          <p:cNvPr id="18" name="footnote-fees"/>
          <p:cNvSpPr txBox="1"/>
          <p:nvPr/>
        </p:nvSpPr>
        <p:spPr>
          <a:xfrm>
            <a:off x="548640" y="57150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¹ Most indie developers qualify for 15% via Apple's Small Business Program and Google's reduced tier, subscriptions drop to 15% after the first year, and alternative payment rules now apply in markets including the US, EU and Korea, so check current terms.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03 · BUSINESS MODEL &amp; PAYWALL MECHANICS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ltv-panel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ltv-stat"/>
          <p:cNvSpPr txBox="1"/>
          <p:nvPr/>
        </p:nvSpPr>
        <p:spPr>
          <a:xfrm>
            <a:off x="868680" y="19659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&gt; 3× CAC</a:t>
            </a:r>
            <a:endParaRPr lang="en-US" sz="4800" dirty="0"/>
          </a:p>
        </p:txBody>
      </p:sp>
      <p:sp>
        <p:nvSpPr>
          <p:cNvPr id="6" name="ltv-label"/>
          <p:cNvSpPr txBox="1"/>
          <p:nvPr/>
        </p:nvSpPr>
        <p:spPr>
          <a:xfrm>
            <a:off x="868680" y="2971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The general target for a sustainable app model</a:t>
            </a:r>
            <a:endParaRPr lang="en-US" sz="1300" dirty="0"/>
          </a:p>
        </p:txBody>
      </p:sp>
      <p:sp>
        <p:nvSpPr>
          <p:cNvPr id="7" name="ltv-desc"/>
          <p:cNvSpPr txBox="1"/>
          <p:nvPr/>
        </p:nvSpPr>
        <p:spPr>
          <a:xfrm>
            <a:off x="868680" y="361188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LTV (Lifetime Value) &amp; CAC (Customer Acquisition Cost)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LTV is the total net revenue expected from a single user over their lifespan in the app. CAC is the total marketing cost required to acquire that user. A sustainable app model generally targets LTV &gt; 3× CAC.</a:t>
            </a:r>
            <a:endParaRPr lang="en-US" sz="1600" dirty="0"/>
          </a:p>
        </p:txBody>
      </p:sp>
      <p:sp>
        <p:nvSpPr>
          <p:cNvPr id="8" name="card-18"/>
          <p:cNvSpPr/>
          <p:nvPr/>
        </p:nvSpPr>
        <p:spPr>
          <a:xfrm>
            <a:off x="5943600" y="1691640"/>
            <a:ext cx="5696712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9" name="card-icon-bg-18"/>
          <p:cNvSpPr/>
          <p:nvPr/>
        </p:nvSpPr>
        <p:spPr>
          <a:xfrm>
            <a:off x="617220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ard-icon-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5644" y="2043684"/>
            <a:ext cx="256032" cy="256032"/>
          </a:xfrm>
          <a:prstGeom prst="rect">
            <a:avLst/>
          </a:prstGeom>
        </p:spPr>
      </p:pic>
      <p:sp>
        <p:nvSpPr>
          <p:cNvPr id="11" name="card-title-18"/>
          <p:cNvSpPr txBox="1"/>
          <p:nvPr/>
        </p:nvSpPr>
        <p:spPr>
          <a:xfrm>
            <a:off x="6812280" y="1892808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MRR / ARR (Monthly / Annual Recurring Revenue)</a:t>
            </a:r>
            <a:endParaRPr lang="en-US" sz="1600" dirty="0"/>
          </a:p>
        </p:txBody>
      </p:sp>
      <p:sp>
        <p:nvSpPr>
          <p:cNvPr id="12" name="card-body-18"/>
          <p:cNvSpPr txBox="1"/>
          <p:nvPr/>
        </p:nvSpPr>
        <p:spPr>
          <a:xfrm>
            <a:off x="6172200" y="2587752"/>
            <a:ext cx="5239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Baseline metrics for subscription products measuring predictable incoming revenue.</a:t>
            </a:r>
            <a:endParaRPr lang="en-US" sz="1400" dirty="0"/>
          </a:p>
        </p:txBody>
      </p:sp>
      <p:sp>
        <p:nvSpPr>
          <p:cNvPr id="13" name="card-19"/>
          <p:cNvSpPr/>
          <p:nvPr/>
        </p:nvSpPr>
        <p:spPr>
          <a:xfrm>
            <a:off x="5943600" y="4069080"/>
            <a:ext cx="5696712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4" name="card-icon-bg-19"/>
          <p:cNvSpPr/>
          <p:nvPr/>
        </p:nvSpPr>
        <p:spPr>
          <a:xfrm>
            <a:off x="6172200" y="4297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ard-icon-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4421124"/>
            <a:ext cx="256032" cy="256032"/>
          </a:xfrm>
          <a:prstGeom prst="rect">
            <a:avLst/>
          </a:prstGeom>
        </p:spPr>
      </p:pic>
      <p:sp>
        <p:nvSpPr>
          <p:cNvPr id="16" name="card-title-19"/>
          <p:cNvSpPr txBox="1"/>
          <p:nvPr/>
        </p:nvSpPr>
        <p:spPr>
          <a:xfrm>
            <a:off x="6812280" y="4270248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Paywall Conversion Rate</a:t>
            </a:r>
            <a:endParaRPr lang="en-US" sz="1600" dirty="0"/>
          </a:p>
        </p:txBody>
      </p:sp>
      <p:sp>
        <p:nvSpPr>
          <p:cNvPr id="17" name="card-body-19"/>
          <p:cNvSpPr txBox="1"/>
          <p:nvPr/>
        </p:nvSpPr>
        <p:spPr>
          <a:xfrm>
            <a:off x="6172200" y="4965192"/>
            <a:ext cx="52395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percentage of active users who view a paywall and successfully complete a subscription or purchase.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Financial Modelling &amp; Business Forecasts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04 · FINANCIAL MODELLING &amp; BUSINESS FORECASTS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Developer Inputs Required</a:t>
            </a:r>
            <a:endParaRPr lang="en-US" sz="3400" dirty="0"/>
          </a:p>
        </p:txBody>
      </p:sp>
      <p:sp>
        <p:nvSpPr>
          <p:cNvPr id="4" name="card-20"/>
          <p:cNvSpPr/>
          <p:nvPr/>
        </p:nvSpPr>
        <p:spPr>
          <a:xfrm>
            <a:off x="548640" y="16916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20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20"/>
          <p:cNvSpPr txBox="1"/>
          <p:nvPr/>
        </p:nvSpPr>
        <p:spPr>
          <a:xfrm>
            <a:off x="777240" y="2496312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Subscriber &amp; User Growth Model</a:t>
            </a:r>
            <a:endParaRPr lang="en-US" sz="1600" dirty="0"/>
          </a:p>
        </p:txBody>
      </p:sp>
      <p:sp>
        <p:nvSpPr>
          <p:cNvPr id="8" name="card-body-20"/>
          <p:cNvSpPr txBox="1"/>
          <p:nvPr/>
        </p:nvSpPr>
        <p:spPr>
          <a:xfrm>
            <a:off x="731520" y="3108960"/>
            <a:ext cx="22471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Projected Monthly Active Users (MAU) and Daily Active Users (DAU) over a 12-to-36-month timeline.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Conversion rate forecast (e.g., % of total downloads converting to paid subscribers).</a:t>
            </a:r>
            <a:endParaRPr lang="en-US" sz="1400" dirty="0"/>
          </a:p>
        </p:txBody>
      </p:sp>
      <p:sp>
        <p:nvSpPr>
          <p:cNvPr id="9" name="card-21"/>
          <p:cNvSpPr/>
          <p:nvPr/>
        </p:nvSpPr>
        <p:spPr>
          <a:xfrm>
            <a:off x="3390138" y="16916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21"/>
          <p:cNvSpPr/>
          <p:nvPr/>
        </p:nvSpPr>
        <p:spPr>
          <a:xfrm>
            <a:off x="3618738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2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82" y="2043684"/>
            <a:ext cx="256032" cy="256032"/>
          </a:xfrm>
          <a:prstGeom prst="rect">
            <a:avLst/>
          </a:prstGeom>
        </p:spPr>
      </p:pic>
      <p:sp>
        <p:nvSpPr>
          <p:cNvPr id="12" name="card-title-21"/>
          <p:cNvSpPr txBox="1"/>
          <p:nvPr/>
        </p:nvSpPr>
        <p:spPr>
          <a:xfrm>
            <a:off x="3618738" y="2496312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Revenue Projections (MRR / ARR Ramp)</a:t>
            </a:r>
            <a:endParaRPr lang="en-US" sz="1600" dirty="0"/>
          </a:p>
        </p:txBody>
      </p:sp>
      <p:sp>
        <p:nvSpPr>
          <p:cNvPr id="13" name="card-body-21"/>
          <p:cNvSpPr txBox="1"/>
          <p:nvPr/>
        </p:nvSpPr>
        <p:spPr>
          <a:xfrm>
            <a:off x="3573018" y="3108960"/>
            <a:ext cx="22471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Monthly Recurring Revenue (MRR) trajectory and Annual Recurring Revenue (ARR) growth targets.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Blended Average Revenue Per User (ARPU) and Average Revenue Per Paying User (ARPPU).</a:t>
            </a:r>
            <a:endParaRPr lang="en-US" sz="1400" dirty="0"/>
          </a:p>
        </p:txBody>
      </p:sp>
      <p:sp>
        <p:nvSpPr>
          <p:cNvPr id="14" name="card-22"/>
          <p:cNvSpPr/>
          <p:nvPr/>
        </p:nvSpPr>
        <p:spPr>
          <a:xfrm>
            <a:off x="6231636" y="16916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22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2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7" name="card-title-22"/>
          <p:cNvSpPr txBox="1"/>
          <p:nvPr/>
        </p:nvSpPr>
        <p:spPr>
          <a:xfrm>
            <a:off x="6460236" y="2496312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Cost &amp; Unit Economics Breakdown</a:t>
            </a:r>
            <a:endParaRPr lang="en-US" sz="1600" dirty="0"/>
          </a:p>
        </p:txBody>
      </p:sp>
      <p:sp>
        <p:nvSpPr>
          <p:cNvPr id="18" name="card-body-22"/>
          <p:cNvSpPr txBox="1"/>
          <p:nvPr/>
        </p:nvSpPr>
        <p:spPr>
          <a:xfrm>
            <a:off x="6414516" y="3108960"/>
            <a:ext cx="22471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Variable Costs: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Store commissions (15%–30%), payment processing, user acquisition costs (CAC), and usage-based server/API infrastructure costs per active user.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Fixed Overhead: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Engineering salaries, third-party SDK licensing (RevenueCat, AppsFlyer, PostHog), customer support, and legal/compliance maintenance.</a:t>
            </a:r>
            <a:endParaRPr lang="en-US" sz="1400" dirty="0"/>
          </a:p>
        </p:txBody>
      </p:sp>
      <p:sp>
        <p:nvSpPr>
          <p:cNvPr id="19" name="card-23"/>
          <p:cNvSpPr/>
          <p:nvPr/>
        </p:nvSpPr>
        <p:spPr>
          <a:xfrm>
            <a:off x="9073134" y="1691640"/>
            <a:ext cx="2567178" cy="4480560"/>
          </a:xfrm>
          <a:prstGeom prst="roundRect">
            <a:avLst>
              <a:gd name="adj" fmla="val 427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0" name="card-icon-bg-23"/>
          <p:cNvSpPr/>
          <p:nvPr/>
        </p:nvSpPr>
        <p:spPr>
          <a:xfrm>
            <a:off x="930173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card-icon-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178" y="2043684"/>
            <a:ext cx="256032" cy="256032"/>
          </a:xfrm>
          <a:prstGeom prst="rect">
            <a:avLst/>
          </a:prstGeom>
        </p:spPr>
      </p:pic>
      <p:sp>
        <p:nvSpPr>
          <p:cNvPr id="22" name="card-title-23"/>
          <p:cNvSpPr txBox="1"/>
          <p:nvPr/>
        </p:nvSpPr>
        <p:spPr>
          <a:xfrm>
            <a:off x="9301734" y="2496312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Break-Even Analysis &amp; Run Rate</a:t>
            </a:r>
            <a:endParaRPr lang="en-US" sz="1600" dirty="0"/>
          </a:p>
        </p:txBody>
      </p:sp>
      <p:sp>
        <p:nvSpPr>
          <p:cNvPr id="23" name="card-body-23"/>
          <p:cNvSpPr txBox="1"/>
          <p:nvPr/>
        </p:nvSpPr>
        <p:spPr>
          <a:xfrm>
            <a:off x="9256014" y="3108960"/>
            <a:ext cx="224713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Calculating the subscriber count and monthly revenue threshold required to achieve net profitability.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 cash burn rate during the soft launch, testing, and scaling phases.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04 · FINANCIAL MODELLING &amp; BUSINESS FORECASTS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24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2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24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Payback Period (CAC Payback)</a:t>
            </a:r>
            <a:endParaRPr lang="en-US" sz="1600" dirty="0"/>
          </a:p>
        </p:txBody>
      </p:sp>
      <p:sp>
        <p:nvSpPr>
          <p:cNvPr id="8" name="card-body-24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number of months required for a paying user's net revenue to fully offset the acquisition cost (CAC) spent to acquire them.</a:t>
            </a:r>
            <a:endParaRPr lang="en-US" sz="1600" dirty="0"/>
          </a:p>
        </p:txBody>
      </p:sp>
      <p:sp>
        <p:nvSpPr>
          <p:cNvPr id="9" name="card-25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25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25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Net Churn vs. Expansion MRR</a:t>
            </a:r>
            <a:endParaRPr lang="en-US" sz="1600" dirty="0"/>
          </a:p>
        </p:txBody>
      </p:sp>
      <p:sp>
        <p:nvSpPr>
          <p:cNvPr id="13" name="card-body-25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Churn is revenue lost from cancellations; Expansion MRR is additional revenue from existing users upgrading tiers or adding seats. High-growth apps aim for “Negative Net Churn,” where expansion revenue exceeds churn losses.</a:t>
            </a:r>
            <a:endParaRPr lang="en-US" sz="1600" dirty="0"/>
          </a:p>
        </p:txBody>
      </p:sp>
      <p:sp>
        <p:nvSpPr>
          <p:cNvPr id="14" name="card-26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26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2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26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Unit Economics Scalability</a:t>
            </a:r>
            <a:endParaRPr lang="en-US" sz="1600" dirty="0"/>
          </a:p>
        </p:txBody>
      </p:sp>
      <p:sp>
        <p:nvSpPr>
          <p:cNvPr id="18" name="card-body-26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Evaluating whether technical infrastructure costs (server compute, AI API calls, video rendering) scale linearly or sub-linearly with user growth to preserve gross margins.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Market Positioning, Product Branding &amp; ASO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05 · MARKET POSITIONING, PRODUCT BRANDING &amp; ASO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Developer Inputs Required</a:t>
            </a:r>
            <a:endParaRPr lang="en-US" sz="3400" dirty="0"/>
          </a:p>
        </p:txBody>
      </p:sp>
      <p:sp>
        <p:nvSpPr>
          <p:cNvPr id="4" name="card-27"/>
          <p:cNvSpPr/>
          <p:nvPr/>
        </p:nvSpPr>
        <p:spPr>
          <a:xfrm>
            <a:off x="54864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27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27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 Geographic Territories</a:t>
            </a:r>
            <a:endParaRPr lang="en-US" sz="1600" dirty="0"/>
          </a:p>
        </p:txBody>
      </p:sp>
      <p:sp>
        <p:nvSpPr>
          <p:cNvPr id="8" name="card-body-27"/>
          <p:cNvSpPr txBox="1"/>
          <p:nvPr/>
        </p:nvSpPr>
        <p:spPr>
          <a:xfrm>
            <a:off x="777240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Primary launch markets (Tier 1 Western / APAC regions) vs. secondary expansion markets, factoring in localisation and regulatory requirements (GDPR, CCPA).</a:t>
            </a:r>
            <a:endParaRPr lang="en-US" sz="1400" dirty="0"/>
          </a:p>
        </p:txBody>
      </p:sp>
      <p:sp>
        <p:nvSpPr>
          <p:cNvPr id="9" name="card-28"/>
          <p:cNvSpPr/>
          <p:nvPr/>
        </p:nvSpPr>
        <p:spPr>
          <a:xfrm>
            <a:off x="623163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28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28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Competitor Analysis Matrix</a:t>
            </a:r>
            <a:endParaRPr lang="en-US" sz="1600" dirty="0"/>
          </a:p>
        </p:txBody>
      </p:sp>
      <p:sp>
        <p:nvSpPr>
          <p:cNvPr id="13" name="card-body-28"/>
          <p:cNvSpPr txBox="1"/>
          <p:nvPr/>
        </p:nvSpPr>
        <p:spPr>
          <a:xfrm>
            <a:off x="6460236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 competitors (apps offering similar functionality) and indirect competitors (manual workflows, paper notes, desktop legacy tools).</a:t>
            </a:r>
            <a:endParaRPr lang="en-US" sz="1400" dirty="0"/>
          </a:p>
        </p:txBody>
      </p:sp>
      <p:sp>
        <p:nvSpPr>
          <p:cNvPr id="14" name="card-29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29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-icon-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421124"/>
            <a:ext cx="256032" cy="256032"/>
          </a:xfrm>
          <a:prstGeom prst="rect">
            <a:avLst/>
          </a:prstGeom>
        </p:spPr>
      </p:pic>
      <p:sp>
        <p:nvSpPr>
          <p:cNvPr id="17" name="card-title-29"/>
          <p:cNvSpPr txBox="1"/>
          <p:nvPr/>
        </p:nvSpPr>
        <p:spPr>
          <a:xfrm>
            <a:off x="1417320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Differentiators</a:t>
            </a:r>
            <a:endParaRPr lang="en-US" sz="1600" dirty="0"/>
          </a:p>
        </p:txBody>
      </p:sp>
      <p:sp>
        <p:nvSpPr>
          <p:cNvPr id="18" name="card-body-29"/>
          <p:cNvSpPr txBox="1"/>
          <p:nvPr/>
        </p:nvSpPr>
        <p:spPr>
          <a:xfrm>
            <a:off x="777240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Explicit positioning stating why users will switch from existing options (e.g., cost, processing speed, privacy, UX simplicity, offline support).</a:t>
            </a:r>
            <a:endParaRPr lang="en-US" sz="1400" dirty="0"/>
          </a:p>
        </p:txBody>
      </p:sp>
      <p:sp>
        <p:nvSpPr>
          <p:cNvPr id="19" name="card-30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0" name="card-icon-bg-30"/>
          <p:cNvSpPr/>
          <p:nvPr/>
        </p:nvSpPr>
        <p:spPr>
          <a:xfrm>
            <a:off x="6460236" y="4297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rd-icon-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21124"/>
            <a:ext cx="256032" cy="256032"/>
          </a:xfrm>
          <a:prstGeom prst="rect">
            <a:avLst/>
          </a:prstGeom>
        </p:spPr>
      </p:pic>
      <p:sp>
        <p:nvSpPr>
          <p:cNvPr id="22" name="card-title-30"/>
          <p:cNvSpPr txBox="1"/>
          <p:nvPr/>
        </p:nvSpPr>
        <p:spPr>
          <a:xfrm>
            <a:off x="7100316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 Branding &amp; Storefront Visual System</a:t>
            </a:r>
            <a:endParaRPr lang="en-US" sz="1600" dirty="0"/>
          </a:p>
        </p:txBody>
      </p:sp>
      <p:sp>
        <p:nvSpPr>
          <p:cNvPr id="23" name="card-body-30"/>
          <p:cNvSpPr txBox="1"/>
          <p:nvPr/>
        </p:nvSpPr>
        <p:spPr>
          <a:xfrm>
            <a:off x="6460236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Brand Identity: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Name, tagline, voice/tone, and colour palette.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Storefront Identity: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App icon design, screenshot styling, preview videos, and headline copy optimised for conversion.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05 · MARKET POSITIONING, PRODUCT BRANDING &amp; ASO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31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31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31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ASO (App Store Optimisation)</a:t>
            </a:r>
            <a:endParaRPr lang="en-US" sz="1600" dirty="0"/>
          </a:p>
        </p:txBody>
      </p:sp>
      <p:sp>
        <p:nvSpPr>
          <p:cNvPr id="8" name="card-body-31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Optimising store metadata (App Title, Subtitle, Keywords, Description, Visuals) to rank higher in store search results and maximise impression-to-install conversion rates.</a:t>
            </a:r>
            <a:endParaRPr lang="en-US" sz="1600" dirty="0"/>
          </a:p>
        </p:txBody>
      </p:sp>
      <p:sp>
        <p:nvSpPr>
          <p:cNvPr id="9" name="card-32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32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32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 Product Pages (iOS) / Custom Store Listings (Google Play)</a:t>
            </a:r>
            <a:endParaRPr lang="en-US" sz="1600" dirty="0"/>
          </a:p>
        </p:txBody>
      </p:sp>
      <p:sp>
        <p:nvSpPr>
          <p:cNvPr id="13" name="card-body-32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Creating specialised versions of your store page tailored to specific ad campaigns, keywords, or user segments.</a:t>
            </a:r>
            <a:endParaRPr lang="en-US" sz="1600" dirty="0"/>
          </a:p>
        </p:txBody>
      </p:sp>
      <p:sp>
        <p:nvSpPr>
          <p:cNvPr id="14" name="card-33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33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3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33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Conversion Rate Optimisation (CRO)</a:t>
            </a:r>
            <a:endParaRPr lang="en-US" sz="1600" dirty="0"/>
          </a:p>
        </p:txBody>
      </p:sp>
      <p:sp>
        <p:nvSpPr>
          <p:cNvPr id="18" name="card-body-33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Running A/B tests on store icons, screenshots, and text metadata to increase the percentage of store views that convert into downloads.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User Acquisition (UA): Paid, Organic &amp; Product-Led Growth (PLG)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06 · USER ACQUISITION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User Acquisition (UA) Channel Mix</a:t>
            </a:r>
            <a:endParaRPr lang="en-US" sz="3400" dirty="0"/>
          </a:p>
        </p:txBody>
      </p:sp>
      <p:sp>
        <p:nvSpPr>
          <p:cNvPr id="4" name="card-34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34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34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Performance Marketing (Paid UA)</a:t>
            </a:r>
            <a:endParaRPr lang="en-US" sz="1600" dirty="0"/>
          </a:p>
        </p:txBody>
      </p:sp>
      <p:sp>
        <p:nvSpPr>
          <p:cNvPr id="8" name="card-body-34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Intent/Search networks (Apple Ads, Google App Campaigns), Social ad networks (Meta, TikTok), and Programmatic Ad Networks.</a:t>
            </a:r>
            <a:endParaRPr lang="en-US" sz="1600" dirty="0"/>
          </a:p>
        </p:txBody>
      </p:sp>
      <p:sp>
        <p:nvSpPr>
          <p:cNvPr id="9" name="card-35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35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3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35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Organic UA &amp; ASO</a:t>
            </a:r>
            <a:endParaRPr lang="en-US" sz="1600" dirty="0"/>
          </a:p>
        </p:txBody>
      </p:sp>
      <p:sp>
        <p:nvSpPr>
          <p:cNvPr id="13" name="card-body-35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Keyword optimisation, content marketing, Web-to-App funnels, and creator/influencer partnerships.</a:t>
            </a:r>
            <a:endParaRPr lang="en-US" sz="1600" dirty="0"/>
          </a:p>
        </p:txBody>
      </p:sp>
      <p:sp>
        <p:nvSpPr>
          <p:cNvPr id="14" name="card-36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36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3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36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Product-Led Growth (PLG)</a:t>
            </a:r>
            <a:endParaRPr lang="en-US" sz="1600" dirty="0"/>
          </a:p>
        </p:txBody>
      </p:sp>
      <p:sp>
        <p:nvSpPr>
          <p:cNvPr id="18" name="card-body-36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Built-in invite loops, export watermarks, shared workspace invites, and referral rewards built directly into the product.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06 · USER ACQUISITION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Targeting, Budget &amp; Brand Marketing</a:t>
            </a:r>
            <a:endParaRPr lang="en-US" sz="3400" dirty="0"/>
          </a:p>
        </p:txBody>
      </p:sp>
      <p:sp>
        <p:nvSpPr>
          <p:cNvPr id="4" name="card-37"/>
          <p:cNvSpPr/>
          <p:nvPr/>
        </p:nvSpPr>
        <p:spPr>
          <a:xfrm>
            <a:off x="548640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37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37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Targeting &amp; Budget Allocation</a:t>
            </a:r>
            <a:endParaRPr lang="en-US" sz="1600" dirty="0"/>
          </a:p>
        </p:txBody>
      </p:sp>
      <p:sp>
        <p:nvSpPr>
          <p:cNvPr id="8" name="card-body-37"/>
          <p:cNvSpPr txBox="1"/>
          <p:nvPr/>
        </p:nvSpPr>
        <p:spPr>
          <a:xfrm>
            <a:off x="777240" y="2587752"/>
            <a:ext cx="49514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Distribution of testing budget vs. scaling budget.</a:t>
            </a:r>
            <a:endParaRPr lang="en-US" sz="16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Defining target CPI (Cost Per Install) and CPA (Cost Per Action) against projected payback periods.</a:t>
            </a:r>
            <a:endParaRPr lang="en-US" sz="1600" dirty="0"/>
          </a:p>
        </p:txBody>
      </p:sp>
      <p:sp>
        <p:nvSpPr>
          <p:cNvPr id="9" name="card-38"/>
          <p:cNvSpPr/>
          <p:nvPr/>
        </p:nvSpPr>
        <p:spPr>
          <a:xfrm>
            <a:off x="6231636" y="1691640"/>
            <a:ext cx="5408676" cy="4480560"/>
          </a:xfrm>
          <a:prstGeom prst="roundRect">
            <a:avLst>
              <a:gd name="adj" fmla="val 244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38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38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Brand Marketing (ATL &amp; OOH – Optional / Late Stage)</a:t>
            </a:r>
            <a:endParaRPr lang="en-US" sz="1600" dirty="0"/>
          </a:p>
        </p:txBody>
      </p:sp>
      <p:sp>
        <p:nvSpPr>
          <p:cNvPr id="13" name="card-body-38"/>
          <p:cNvSpPr txBox="1"/>
          <p:nvPr/>
        </p:nvSpPr>
        <p:spPr>
          <a:xfrm>
            <a:off x="6460236" y="2587752"/>
            <a:ext cx="49514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Above-The-Line (CTV, podcasts) and Out-Of-Home (billboards, transit ads) evaluated strictly after unit economics are proven.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06 · USER ACQUISITION: PAID, ORGANIC &amp; PLG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39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39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39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Attribution &amp; MMP (Mobile Measurement Partner)</a:t>
            </a:r>
            <a:endParaRPr lang="en-US" sz="1600" dirty="0"/>
          </a:p>
        </p:txBody>
      </p:sp>
      <p:sp>
        <p:nvSpPr>
          <p:cNvPr id="8" name="card-body-39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Specialised third-party SDKs (e.g., AppsFlyer, Adjust, Singular) required to track which ad campaign or channel produced a specific app install or purchase under privacy frameworks like Apple's SKAdNetwork (SKAN).</a:t>
            </a:r>
            <a:endParaRPr lang="en-US" sz="1600" dirty="0"/>
          </a:p>
        </p:txBody>
      </p:sp>
      <p:sp>
        <p:nvSpPr>
          <p:cNvPr id="9" name="card-40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40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40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K-Factor / Viral Coefficient</a:t>
            </a:r>
            <a:endParaRPr lang="en-US" sz="1600" dirty="0"/>
          </a:p>
        </p:txBody>
      </p:sp>
      <p:sp>
        <p:nvSpPr>
          <p:cNvPr id="13" name="card-body-40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metric evaluating how many new users each existing user invites into the app (K = invites sent per user × invite conversion rate).</a:t>
            </a:r>
            <a:endParaRPr lang="en-US" sz="1600" dirty="0"/>
          </a:p>
        </p:txBody>
      </p:sp>
      <p:sp>
        <p:nvSpPr>
          <p:cNvPr id="14" name="card-41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41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41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Intent-Based Acquisition vs. Broad Reach</a:t>
            </a:r>
            <a:endParaRPr lang="en-US" sz="1600" dirty="0"/>
          </a:p>
        </p:txBody>
      </p:sp>
      <p:sp>
        <p:nvSpPr>
          <p:cNvPr id="18" name="card-body-41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Mobile games often rely on high-volume visual ad placements across ad networks. Utility apps depend heavily on intent-based search (Apple Ads, Google App Campaigns) where users are actively looking to solve an immediate problem.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Project Milestones, Store Approvals &amp; Launch Beats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07 · MILESTONES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Production Milestones to Global Hard Launch</a:t>
            </a:r>
            <a:endParaRPr lang="en-US" sz="3400" dirty="0"/>
          </a:p>
        </p:txBody>
      </p:sp>
      <p:sp>
        <p:nvSpPr>
          <p:cNvPr id="4" name="timeline-line"/>
          <p:cNvSpPr/>
          <p:nvPr/>
        </p:nvSpPr>
        <p:spPr>
          <a:xfrm>
            <a:off x="1143000" y="2697480"/>
            <a:ext cx="9902952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milestone-1"/>
          <p:cNvSpPr/>
          <p:nvPr/>
        </p:nvSpPr>
        <p:spPr>
          <a:xfrm>
            <a:off x="548640" y="210312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6" name="milestone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457200" cy="457200"/>
          </a:xfrm>
          <a:prstGeom prst="rect">
            <a:avLst/>
          </a:prstGeom>
        </p:spPr>
      </p:pic>
      <p:sp>
        <p:nvSpPr>
          <p:cNvPr id="7" name="milestone-label-1"/>
          <p:cNvSpPr txBox="1"/>
          <p:nvPr/>
        </p:nvSpPr>
        <p:spPr>
          <a:xfrm>
            <a:off x="13716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Pre-Alpha</a:t>
            </a:r>
            <a:endParaRPr lang="en-US" sz="1600" dirty="0"/>
          </a:p>
        </p:txBody>
      </p:sp>
      <p:sp>
        <p:nvSpPr>
          <p:cNvPr id="8" name="milestone-2"/>
          <p:cNvSpPr/>
          <p:nvPr/>
        </p:nvSpPr>
        <p:spPr>
          <a:xfrm>
            <a:off x="3024378" y="210312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9" name="milestone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138" y="2468880"/>
            <a:ext cx="457200" cy="457200"/>
          </a:xfrm>
          <a:prstGeom prst="rect">
            <a:avLst/>
          </a:prstGeom>
        </p:spPr>
      </p:pic>
      <p:sp>
        <p:nvSpPr>
          <p:cNvPr id="10" name="milestone-label-2"/>
          <p:cNvSpPr txBox="1"/>
          <p:nvPr/>
        </p:nvSpPr>
        <p:spPr>
          <a:xfrm>
            <a:off x="2612898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Feature Complete (Alpha)</a:t>
            </a:r>
            <a:endParaRPr lang="en-US" sz="1600" dirty="0"/>
          </a:p>
        </p:txBody>
      </p:sp>
      <p:sp>
        <p:nvSpPr>
          <p:cNvPr id="11" name="milestone-3"/>
          <p:cNvSpPr/>
          <p:nvPr/>
        </p:nvSpPr>
        <p:spPr>
          <a:xfrm>
            <a:off x="5500116" y="210312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12" name="milestone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468880"/>
            <a:ext cx="457200" cy="457200"/>
          </a:xfrm>
          <a:prstGeom prst="rect">
            <a:avLst/>
          </a:prstGeom>
        </p:spPr>
      </p:pic>
      <p:sp>
        <p:nvSpPr>
          <p:cNvPr id="13" name="milestone-label-3"/>
          <p:cNvSpPr txBox="1"/>
          <p:nvPr/>
        </p:nvSpPr>
        <p:spPr>
          <a:xfrm>
            <a:off x="5088636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Feature Freeze (Beta)</a:t>
            </a:r>
            <a:endParaRPr lang="en-US" sz="1600" dirty="0"/>
          </a:p>
        </p:txBody>
      </p:sp>
      <p:sp>
        <p:nvSpPr>
          <p:cNvPr id="14" name="milestone-4"/>
          <p:cNvSpPr/>
          <p:nvPr/>
        </p:nvSpPr>
        <p:spPr>
          <a:xfrm>
            <a:off x="7975854" y="2103120"/>
            <a:ext cx="1188720" cy="1188720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15" name="milestone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1614" y="2468880"/>
            <a:ext cx="457200" cy="457200"/>
          </a:xfrm>
          <a:prstGeom prst="rect">
            <a:avLst/>
          </a:prstGeom>
        </p:spPr>
      </p:pic>
      <p:sp>
        <p:nvSpPr>
          <p:cNvPr id="16" name="milestone-label-4"/>
          <p:cNvSpPr txBox="1"/>
          <p:nvPr/>
        </p:nvSpPr>
        <p:spPr>
          <a:xfrm>
            <a:off x="7564374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Release Candidate</a:t>
            </a:r>
            <a:endParaRPr lang="en-US" sz="1600" dirty="0"/>
          </a:p>
        </p:txBody>
      </p:sp>
      <p:sp>
        <p:nvSpPr>
          <p:cNvPr id="17" name="milestone-5"/>
          <p:cNvSpPr/>
          <p:nvPr/>
        </p:nvSpPr>
        <p:spPr>
          <a:xfrm>
            <a:off x="10451592" y="2103120"/>
            <a:ext cx="1188720" cy="118872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pic>
        <p:nvPicPr>
          <p:cNvPr id="18" name="milestone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2468880"/>
            <a:ext cx="457200" cy="457200"/>
          </a:xfrm>
          <a:prstGeom prst="rect">
            <a:avLst/>
          </a:prstGeom>
        </p:spPr>
      </p:pic>
      <p:sp>
        <p:nvSpPr>
          <p:cNvPr id="19" name="milestone-label-5"/>
          <p:cNvSpPr txBox="1"/>
          <p:nvPr/>
        </p:nvSpPr>
        <p:spPr>
          <a:xfrm>
            <a:off x="10040112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Global Hard Launch</a:t>
            </a:r>
            <a:endParaRPr lang="en-US" sz="1600" dirty="0"/>
          </a:p>
        </p:txBody>
      </p:sp>
      <p:sp>
        <p:nvSpPr>
          <p:cNvPr id="20" name="hardlaunch-bg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hardlaunch-text"/>
          <p:cNvSpPr txBox="1"/>
          <p:nvPr/>
        </p:nvSpPr>
        <p:spPr>
          <a:xfrm>
            <a:off x="822960" y="489204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Global Hard Launch: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Synchronised platform release and coordinated PR/UA activation.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07 · MILESTONES — DEVELOPER INPUTS REQUIRED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Store Review, Soft Launch &amp; Marketing Beats</a:t>
            </a:r>
            <a:endParaRPr lang="en-US" sz="3400" dirty="0"/>
          </a:p>
        </p:txBody>
      </p:sp>
      <p:sp>
        <p:nvSpPr>
          <p:cNvPr id="4" name="card-42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42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42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 Store Review Buffer</a:t>
            </a:r>
            <a:endParaRPr lang="en-US" sz="1600" dirty="0"/>
          </a:p>
        </p:txBody>
      </p:sp>
      <p:sp>
        <p:nvSpPr>
          <p:cNvPr id="8" name="card-body-42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Allocating 1–2 weeks of submission buffer for store rejections and resubmission (e.g., subscription transparency, background execution permissions, account deletion requirements).</a:t>
            </a:r>
            <a:endParaRPr lang="en-US" sz="1600" dirty="0"/>
          </a:p>
        </p:txBody>
      </p:sp>
      <p:sp>
        <p:nvSpPr>
          <p:cNvPr id="9" name="card-43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43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43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Soft Launch / Beta Phase</a:t>
            </a:r>
            <a:endParaRPr lang="en-US" sz="1600" dirty="0"/>
          </a:p>
        </p:txBody>
      </p:sp>
      <p:sp>
        <p:nvSpPr>
          <p:cNvPr id="13" name="card-body-43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Regional testing targets, server strain tests, telemetry verification, onboarding A/B testing, and early conversion tracking.</a:t>
            </a:r>
            <a:endParaRPr lang="en-US" sz="1600" dirty="0"/>
          </a:p>
        </p:txBody>
      </p:sp>
      <p:sp>
        <p:nvSpPr>
          <p:cNvPr id="14" name="card-44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44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44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Marketing Beats &amp; Editorial Submissions</a:t>
            </a:r>
            <a:endParaRPr lang="en-US" sz="1600" dirty="0"/>
          </a:p>
        </p:txBody>
      </p:sp>
      <p:sp>
        <p:nvSpPr>
          <p:cNvPr id="18" name="card-body-44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 Store page reveals, PR distribution, influencer previews, community betas, and submitting Apple/Google Editorial Feature forms (6–8 weeks before launch).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07 · PROJECT MILESTONES, STORE APPROVALS &amp; LAUNCH BEATS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45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4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45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Feature Freeze</a:t>
            </a:r>
            <a:endParaRPr lang="en-US" sz="1600" dirty="0"/>
          </a:p>
        </p:txBody>
      </p:sp>
      <p:sp>
        <p:nvSpPr>
          <p:cNvPr id="8" name="card-body-45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strict production deadline after which no new features are added; engineering focus shifts exclusively to bug fixes, optimisation, and store compliance.</a:t>
            </a:r>
            <a:endParaRPr lang="en-US" sz="1600" dirty="0"/>
          </a:p>
        </p:txBody>
      </p:sp>
      <p:sp>
        <p:nvSpPr>
          <p:cNvPr id="9" name="card-46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46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46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Store Guidelines Compliance Risk</a:t>
            </a:r>
            <a:endParaRPr lang="en-US" sz="1600" dirty="0"/>
          </a:p>
        </p:txBody>
      </p:sp>
      <p:sp>
        <p:nvSpPr>
          <p:cNvPr id="13" name="card-body-46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technical and policy review conducted by Apple and Google. Common rejections stem from non-standard payment implementation, unclear subscription terms, or missing mandatory features like in-app account deletion (Apple Guideline 5.1.1(v)).</a:t>
            </a:r>
            <a:endParaRPr lang="en-US" sz="1600" dirty="0"/>
          </a:p>
        </p:txBody>
      </p:sp>
      <p:sp>
        <p:nvSpPr>
          <p:cNvPr id="14" name="card-47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47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47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Editorial Pitching</a:t>
            </a:r>
            <a:endParaRPr lang="en-US" sz="1600" dirty="0"/>
          </a:p>
        </p:txBody>
      </p:sp>
      <p:sp>
        <p:nvSpPr>
          <p:cNvPr id="18" name="card-body-47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Submitting promotional briefs to Apple and Google store curation teams 6–8 weeks in advance to compete for homepage features (e.g., “App of the Day”).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822960" y="178308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ivider-number"/>
          <p:cNvSpPr txBox="1"/>
          <p:nvPr/>
        </p:nvSpPr>
        <p:spPr>
          <a:xfrm>
            <a:off x="822960" y="178308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206240" y="1645920"/>
            <a:ext cx="7315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Post-Launch Operations: Churn Management, LiveOps &amp; Support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206240" y="4023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Developer Inputs Required  ·  Key Concepts &amp; Terms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08 · POST-LAUNCH OPERATIONS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Developer Inputs Required</a:t>
            </a:r>
            <a:endParaRPr lang="en-US" sz="3400" dirty="0"/>
          </a:p>
        </p:txBody>
      </p:sp>
      <p:sp>
        <p:nvSpPr>
          <p:cNvPr id="4" name="card-48"/>
          <p:cNvSpPr/>
          <p:nvPr/>
        </p:nvSpPr>
        <p:spPr>
          <a:xfrm>
            <a:off x="548640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48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48"/>
          <p:cNvSpPr txBox="1"/>
          <p:nvPr/>
        </p:nvSpPr>
        <p:spPr>
          <a:xfrm>
            <a:off x="1417320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LiveOps &amp; Feature Cadence</a:t>
            </a:r>
            <a:endParaRPr lang="en-US" sz="1600" dirty="0"/>
          </a:p>
        </p:txBody>
      </p:sp>
      <p:sp>
        <p:nvSpPr>
          <p:cNvPr id="8" name="card-body-48"/>
          <p:cNvSpPr txBox="1"/>
          <p:nvPr/>
        </p:nvSpPr>
        <p:spPr>
          <a:xfrm>
            <a:off x="777240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schedules (e.g., bi-weekly maintenance builds, monthly feature releases, seasonal campaigns).</a:t>
            </a:r>
            <a:endParaRPr lang="en-US" sz="1400" dirty="0"/>
          </a:p>
        </p:txBody>
      </p:sp>
      <p:sp>
        <p:nvSpPr>
          <p:cNvPr id="9" name="card-49"/>
          <p:cNvSpPr/>
          <p:nvPr/>
        </p:nvSpPr>
        <p:spPr>
          <a:xfrm>
            <a:off x="6231636" y="169164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49"/>
          <p:cNvSpPr/>
          <p:nvPr/>
        </p:nvSpPr>
        <p:spPr>
          <a:xfrm>
            <a:off x="64602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43684"/>
            <a:ext cx="256032" cy="256032"/>
          </a:xfrm>
          <a:prstGeom prst="rect">
            <a:avLst/>
          </a:prstGeom>
        </p:spPr>
      </p:pic>
      <p:sp>
        <p:nvSpPr>
          <p:cNvPr id="12" name="card-title-49"/>
          <p:cNvSpPr txBox="1"/>
          <p:nvPr/>
        </p:nvSpPr>
        <p:spPr>
          <a:xfrm>
            <a:off x="7100316" y="189280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Ongoing Store Maintenance</a:t>
            </a:r>
            <a:endParaRPr lang="en-US" sz="1600" dirty="0"/>
          </a:p>
        </p:txBody>
      </p:sp>
      <p:sp>
        <p:nvSpPr>
          <p:cNvPr id="13" name="card-body-49"/>
          <p:cNvSpPr txBox="1"/>
          <p:nvPr/>
        </p:nvSpPr>
        <p:spPr>
          <a:xfrm>
            <a:off x="6460236" y="258775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Continuous keyword updates, seasonal icon/screenshot refreshes, and store listing A/B testing.</a:t>
            </a:r>
            <a:endParaRPr lang="en-US" sz="1400" dirty="0"/>
          </a:p>
        </p:txBody>
      </p:sp>
      <p:sp>
        <p:nvSpPr>
          <p:cNvPr id="14" name="card-50"/>
          <p:cNvSpPr/>
          <p:nvPr/>
        </p:nvSpPr>
        <p:spPr>
          <a:xfrm>
            <a:off x="548640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50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rd-icon-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421124"/>
            <a:ext cx="256032" cy="256032"/>
          </a:xfrm>
          <a:prstGeom prst="rect">
            <a:avLst/>
          </a:prstGeom>
        </p:spPr>
      </p:pic>
      <p:sp>
        <p:nvSpPr>
          <p:cNvPr id="17" name="card-title-50"/>
          <p:cNvSpPr txBox="1"/>
          <p:nvPr/>
        </p:nvSpPr>
        <p:spPr>
          <a:xfrm>
            <a:off x="1417320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Customer Support &amp; Feedback Architecture</a:t>
            </a:r>
            <a:endParaRPr lang="en-US" sz="1600" dirty="0"/>
          </a:p>
        </p:txBody>
      </p:sp>
      <p:sp>
        <p:nvSpPr>
          <p:cNvPr id="18" name="card-body-50"/>
          <p:cNvSpPr txBox="1"/>
          <p:nvPr/>
        </p:nvSpPr>
        <p:spPr>
          <a:xfrm>
            <a:off x="777240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Integrated bug reporting SDKs, user ticketing pipelines, direct in-app feedback triggers, and public store review responses.</a:t>
            </a:r>
            <a:endParaRPr lang="en-US" sz="1400" dirty="0"/>
          </a:p>
        </p:txBody>
      </p:sp>
      <p:sp>
        <p:nvSpPr>
          <p:cNvPr id="19" name="card-51"/>
          <p:cNvSpPr/>
          <p:nvPr/>
        </p:nvSpPr>
        <p:spPr>
          <a:xfrm>
            <a:off x="6231636" y="4069080"/>
            <a:ext cx="5408676" cy="2103120"/>
          </a:xfrm>
          <a:prstGeom prst="roundRect">
            <a:avLst>
              <a:gd name="adj" fmla="val 521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20" name="card-icon-bg-51"/>
          <p:cNvSpPr/>
          <p:nvPr/>
        </p:nvSpPr>
        <p:spPr>
          <a:xfrm>
            <a:off x="6460236" y="4297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card-icon-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21124"/>
            <a:ext cx="256032" cy="256032"/>
          </a:xfrm>
          <a:prstGeom prst="rect">
            <a:avLst/>
          </a:prstGeom>
        </p:spPr>
      </p:pic>
      <p:sp>
        <p:nvSpPr>
          <p:cNvPr id="22" name="card-title-51"/>
          <p:cNvSpPr txBox="1"/>
          <p:nvPr/>
        </p:nvSpPr>
        <p:spPr>
          <a:xfrm>
            <a:off x="7100316" y="4270248"/>
            <a:ext cx="43571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Technical Monitoring &amp; Telemetry</a:t>
            </a:r>
            <a:endParaRPr lang="en-US" sz="1600" dirty="0"/>
          </a:p>
        </p:txBody>
      </p:sp>
      <p:sp>
        <p:nvSpPr>
          <p:cNvPr id="23" name="card-body-51"/>
          <p:cNvSpPr txBox="1"/>
          <p:nvPr/>
        </p:nvSpPr>
        <p:spPr>
          <a:xfrm>
            <a:off x="6460236" y="4965192"/>
            <a:ext cx="49514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Real-time crash monitoring, server auto-scaling, and tracking drop-offs across user funnels.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08 · POST-LAUNCH OPERATIONS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Concepts &amp; Terms for Developers</a:t>
            </a:r>
            <a:endParaRPr lang="en-US" sz="3400" dirty="0"/>
          </a:p>
        </p:txBody>
      </p:sp>
      <p:sp>
        <p:nvSpPr>
          <p:cNvPr id="4" name="card-52"/>
          <p:cNvSpPr/>
          <p:nvPr/>
        </p:nvSpPr>
        <p:spPr>
          <a:xfrm>
            <a:off x="548640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5" name="card-icon-bg-52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card-icon-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43684"/>
            <a:ext cx="256032" cy="256032"/>
          </a:xfrm>
          <a:prstGeom prst="rect">
            <a:avLst/>
          </a:prstGeom>
        </p:spPr>
      </p:pic>
      <p:sp>
        <p:nvSpPr>
          <p:cNvPr id="7" name="card-title-52"/>
          <p:cNvSpPr txBox="1"/>
          <p:nvPr/>
        </p:nvSpPr>
        <p:spPr>
          <a:xfrm>
            <a:off x="1417320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Churn Rate</a:t>
            </a:r>
            <a:endParaRPr lang="en-US" sz="1600" dirty="0"/>
          </a:p>
        </p:txBody>
      </p:sp>
      <p:sp>
        <p:nvSpPr>
          <p:cNvPr id="8" name="card-body-52"/>
          <p:cNvSpPr txBox="1"/>
          <p:nvPr/>
        </p:nvSpPr>
        <p:spPr>
          <a:xfrm>
            <a:off x="777240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percentage of active subscribers or users who cancel or stop using the app over a given timeframe.</a:t>
            </a:r>
            <a:endParaRPr lang="en-US" sz="1600" dirty="0"/>
          </a:p>
        </p:txBody>
      </p:sp>
      <p:sp>
        <p:nvSpPr>
          <p:cNvPr id="9" name="card-53"/>
          <p:cNvSpPr/>
          <p:nvPr/>
        </p:nvSpPr>
        <p:spPr>
          <a:xfrm>
            <a:off x="4337304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0" name="card-icon-bg-53"/>
          <p:cNvSpPr/>
          <p:nvPr/>
        </p:nvSpPr>
        <p:spPr>
          <a:xfrm>
            <a:off x="456590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ard-icon-5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348" y="2043684"/>
            <a:ext cx="256032" cy="256032"/>
          </a:xfrm>
          <a:prstGeom prst="rect">
            <a:avLst/>
          </a:prstGeom>
        </p:spPr>
      </p:pic>
      <p:sp>
        <p:nvSpPr>
          <p:cNvPr id="12" name="card-title-53"/>
          <p:cNvSpPr txBox="1"/>
          <p:nvPr/>
        </p:nvSpPr>
        <p:spPr>
          <a:xfrm>
            <a:off x="5205984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Prompt Optimisation</a:t>
            </a:r>
            <a:endParaRPr lang="en-US" sz="1600" dirty="0"/>
          </a:p>
        </p:txBody>
      </p:sp>
      <p:sp>
        <p:nvSpPr>
          <p:cNvPr id="13" name="card-body-53"/>
          <p:cNvSpPr txBox="1"/>
          <p:nvPr/>
        </p:nvSpPr>
        <p:spPr>
          <a:xfrm>
            <a:off x="4565904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Programmatically triggering the native iOS/Android rating prompt immediately after a user achieves a positive outcome (e.g., completing a task or saving a file) to maintain a high average store rating.</a:t>
            </a:r>
            <a:endParaRPr lang="en-US" sz="1600" dirty="0"/>
          </a:p>
        </p:txBody>
      </p:sp>
      <p:sp>
        <p:nvSpPr>
          <p:cNvPr id="14" name="card-54"/>
          <p:cNvSpPr/>
          <p:nvPr/>
        </p:nvSpPr>
        <p:spPr>
          <a:xfrm>
            <a:off x="8125968" y="1691640"/>
            <a:ext cx="3514344" cy="4480560"/>
          </a:xfrm>
          <a:prstGeom prst="roundRect">
            <a:avLst>
              <a:gd name="adj" fmla="val 31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1F2D4A">
                <a:alpha val="10000"/>
              </a:srgbClr>
            </a:outerShdw>
          </a:effectLst>
        </p:spPr>
      </p:sp>
      <p:sp>
        <p:nvSpPr>
          <p:cNvPr id="15" name="card-icon-bg-54"/>
          <p:cNvSpPr/>
          <p:nvPr/>
        </p:nvSpPr>
        <p:spPr>
          <a:xfrm>
            <a:off x="835456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ard-icon-5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012" y="2043684"/>
            <a:ext cx="256032" cy="256032"/>
          </a:xfrm>
          <a:prstGeom prst="rect">
            <a:avLst/>
          </a:prstGeom>
        </p:spPr>
      </p:pic>
      <p:sp>
        <p:nvSpPr>
          <p:cNvPr id="17" name="card-title-54"/>
          <p:cNvSpPr txBox="1"/>
          <p:nvPr/>
        </p:nvSpPr>
        <p:spPr>
          <a:xfrm>
            <a:off x="8994648" y="1892808"/>
            <a:ext cx="24627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Cohort Analysis</a:t>
            </a:r>
            <a:endParaRPr lang="en-US" sz="1600" dirty="0"/>
          </a:p>
        </p:txBody>
      </p:sp>
      <p:sp>
        <p:nvSpPr>
          <p:cNvPr id="18" name="card-body-54"/>
          <p:cNvSpPr txBox="1"/>
          <p:nvPr/>
        </p:nvSpPr>
        <p:spPr>
          <a:xfrm>
            <a:off x="8354568" y="2587752"/>
            <a:ext cx="3057144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Tracking user behaviour, retention, and revenue over time grouped by the week or month they first downloaded the app.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TM Pastel">
  <a:themeElements>
    <a:clrScheme name="GTM Pastel">
      <a:dk1>
        <a:srgbClr val="1F2D4A"/>
      </a:dk1>
      <a:lt1>
        <a:srgbClr val="FFFFFF"/>
      </a:lt1>
      <a:dk2>
        <a:srgbClr val="4A5D80"/>
      </a:dk2>
      <a:lt2>
        <a:srgbClr val="FFF6CC"/>
      </a:lt2>
      <a:accent1>
        <a:srgbClr val="A9CBEA"/>
      </a:accent1>
      <a:accent2>
        <a:srgbClr val="FFE08A"/>
      </a:accent2>
      <a:accent3>
        <a:srgbClr val="5B8DBE"/>
      </a:accent3>
      <a:accent4>
        <a:srgbClr val="FFF6CC"/>
      </a:accent4>
      <a:accent5>
        <a:srgbClr val="E8F1FA"/>
      </a:accent5>
      <a:accent6>
        <a:srgbClr val="C9971C"/>
      </a:accent6>
      <a:hlink>
        <a:srgbClr val="3B6EA5"/>
      </a:hlink>
      <a:folHlink>
        <a:srgbClr val="6B5B95"/>
      </a:folHlink>
    </a:clrScheme>
    <a:fontScheme name="GTM Past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Go-To-Market (GTM) Master Framework for App Developers</dc:title>
  <dc:subject>PptxGenJS Presentation</dc:subject>
  <dc:creator>PptxGenJS</dc:creator>
  <cp:lastModifiedBy>PptxGenJS</cp:lastModifiedBy>
  <cp:revision>1</cp:revision>
  <dcterms:created xsi:type="dcterms:W3CDTF">2026-10-28T07:00:22Z</dcterms:created>
  <dcterms:modified xsi:type="dcterms:W3CDTF">2026-10-28T07:00:22Z</dcterms:modified>
</cp:coreProperties>
</file>